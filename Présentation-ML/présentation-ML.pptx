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144000" cx="16256000"/>
  <p:notesSz cx="9144000" cy="16256000"/>
  <p:embeddedFontLs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BF2007-1E79-43B9-85B4-26E9415AB803}">
  <a:tblStyle styleId="{F5BF2007-1E79-43B9-85B4-26E9415AB8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QuattrocentoSans-bold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regular.fntdata"/><Relationship Id="rId13" Type="http://schemas.openxmlformats.org/officeDocument/2006/relationships/slide" Target="slides/slide8.xml"/><Relationship Id="rId24" Type="http://schemas.openxmlformats.org/officeDocument/2006/relationships/font" Target="fonts/QuattrocentoSans-boldItalic.fntdata"/><Relationship Id="rId12" Type="http://schemas.openxmlformats.org/officeDocument/2006/relationships/slide" Target="slides/slide7.xml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dmdkpifj6ckw/mnt/agents/output/heart_disease_ml/images/6_Stethoscope_with_Glowing_Heart_on.png" id="16" name="Google Shape;16;p3"/>
          <p:cNvPicPr preferRelativeResize="0"/>
          <p:nvPr/>
        </p:nvPicPr>
        <p:blipFill rotWithShape="1">
          <a:blip r:embed="rId3">
            <a:alphaModFix/>
          </a:blip>
          <a:srcRect b="33938" l="0" r="0" t="33938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1A1A1E">
                  <a:alpha val="52941"/>
                </a:srgbClr>
              </a:gs>
              <a:gs pos="50000">
                <a:srgbClr val="1A1A1E">
                  <a:alpha val="72941"/>
                </a:srgbClr>
              </a:gs>
              <a:gs pos="100000">
                <a:srgbClr val="1A1A1E">
                  <a:alpha val="87058"/>
                </a:srgbClr>
              </a:gs>
            </a:gsLst>
            <a:lin ang="5400000" scaled="0"/>
          </a:gra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318000" y="2286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 MACHINE LEARNING</a:t>
            </a:r>
            <a:endParaRPr b="0" i="0" sz="1300" u="none" cap="none" strike="noStrike"/>
          </a:p>
        </p:txBody>
      </p:sp>
      <p:sp>
        <p:nvSpPr>
          <p:cNvPr id="19" name="Google Shape;19;p3"/>
          <p:cNvSpPr/>
          <p:nvPr/>
        </p:nvSpPr>
        <p:spPr>
          <a:xfrm>
            <a:off x="7175500" y="2730500"/>
            <a:ext cx="1905000" cy="254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778000" y="3048000"/>
            <a:ext cx="1270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PRÉDICTION DU RISQUE DE</a:t>
            </a:r>
            <a:endParaRPr b="0" i="0" sz="40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MALADIE CARDIAQUE</a:t>
            </a:r>
            <a:endParaRPr b="0" i="0" sz="4000" u="none" cap="none" strike="noStrike"/>
          </a:p>
        </p:txBody>
      </p:sp>
      <p:sp>
        <p:nvSpPr>
          <p:cNvPr id="21" name="Google Shape;21;p3"/>
          <p:cNvSpPr/>
          <p:nvPr/>
        </p:nvSpPr>
        <p:spPr>
          <a:xfrm>
            <a:off x="3048000" y="4826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 projet complet de classification supervisée</a:t>
            </a:r>
            <a:endParaRPr b="0" i="0" sz="2200" u="none" cap="none" strike="noStrike"/>
          </a:p>
        </p:txBody>
      </p:sp>
      <p:sp>
        <p:nvSpPr>
          <p:cNvPr id="22" name="Google Shape;22;p3"/>
          <p:cNvSpPr/>
          <p:nvPr/>
        </p:nvSpPr>
        <p:spPr>
          <a:xfrm>
            <a:off x="7175500" y="5588000"/>
            <a:ext cx="1905000" cy="25400"/>
          </a:xfrm>
          <a:prstGeom prst="rect">
            <a:avLst/>
          </a:prstGeom>
          <a:solidFill>
            <a:srgbClr val="FFFFFF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318000" y="59055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SUIVI DU PROCESSUS CRISP-DM</a:t>
            </a:r>
            <a:endParaRPr b="0" i="0" sz="1600" u="none" cap="none" strike="noStrike"/>
          </a:p>
        </p:txBody>
      </p:sp>
      <p:sp>
        <p:nvSpPr>
          <p:cNvPr id="24" name="Google Shape;24;p3"/>
          <p:cNvSpPr/>
          <p:nvPr/>
        </p:nvSpPr>
        <p:spPr>
          <a:xfrm>
            <a:off x="5588000" y="787400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Juin 2026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kimi-img.moonshot.cn/pub/slides/okc/ldmdkpifj6ckw/mnt/agents/output/heart_disease_ml/images/1_Heart_and_Stethoscope_on_Dark_Background.png" id="31" name="Google Shape;31;p4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0" y="0"/>
            <a:ext cx="609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762000" y="2540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SOMMAIRE</a:t>
            </a:r>
            <a:endParaRPr b="0" i="0" sz="1300" u="none" cap="none" strike="noStrike"/>
          </a:p>
        </p:txBody>
      </p:sp>
      <p:sp>
        <p:nvSpPr>
          <p:cNvPr id="33" name="Google Shape;33;p4"/>
          <p:cNvSpPr/>
          <p:nvPr/>
        </p:nvSpPr>
        <p:spPr>
          <a:xfrm>
            <a:off x="762000" y="2984500"/>
            <a:ext cx="4572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CONTENTS</a:t>
            </a:r>
            <a:endParaRPr b="0" i="0" sz="4000" u="none" cap="none" strike="noStrike"/>
          </a:p>
        </p:txBody>
      </p:sp>
      <p:sp>
        <p:nvSpPr>
          <p:cNvPr id="34" name="Google Shape;34;p4"/>
          <p:cNvSpPr/>
          <p:nvPr/>
        </p:nvSpPr>
        <p:spPr>
          <a:xfrm>
            <a:off x="762000" y="3873500"/>
            <a:ext cx="1016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62000" y="4127500"/>
            <a:ext cx="457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Présentation structurée en 5 chapitres couvrant l'intégralité du projet</a:t>
            </a:r>
            <a:endParaRPr b="0" i="0" sz="1600" u="none" cap="none" strike="noStrike"/>
          </a:p>
        </p:txBody>
      </p:sp>
      <p:sp>
        <p:nvSpPr>
          <p:cNvPr id="36" name="Google Shape;36;p4"/>
          <p:cNvSpPr/>
          <p:nvPr/>
        </p:nvSpPr>
        <p:spPr>
          <a:xfrm>
            <a:off x="6858000" y="1651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3200" u="none" cap="none" strike="noStrike"/>
          </a:p>
        </p:txBody>
      </p:sp>
      <p:sp>
        <p:nvSpPr>
          <p:cNvPr id="37" name="Google Shape;37;p4"/>
          <p:cNvSpPr/>
          <p:nvPr/>
        </p:nvSpPr>
        <p:spPr>
          <a:xfrm>
            <a:off x="7747000" y="1651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&amp; Contexte</a:t>
            </a:r>
            <a:endParaRPr b="0" i="0" sz="2000" u="none" cap="none" strike="noStrike"/>
          </a:p>
        </p:txBody>
      </p:sp>
      <p:sp>
        <p:nvSpPr>
          <p:cNvPr id="38" name="Google Shape;38;p4"/>
          <p:cNvSpPr/>
          <p:nvPr/>
        </p:nvSpPr>
        <p:spPr>
          <a:xfrm>
            <a:off x="7747000" y="2057400"/>
            <a:ext cx="736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médical, problématique et objectifs</a:t>
            </a:r>
            <a:endParaRPr b="0" i="0" sz="1400" u="none" cap="none" strike="noStrike"/>
          </a:p>
        </p:txBody>
      </p:sp>
      <p:sp>
        <p:nvSpPr>
          <p:cNvPr id="39" name="Google Shape;39;p4"/>
          <p:cNvSpPr/>
          <p:nvPr/>
        </p:nvSpPr>
        <p:spPr>
          <a:xfrm>
            <a:off x="6858000" y="2603500"/>
            <a:ext cx="8382000" cy="127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858000" y="2921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3200" u="none" cap="none" strike="noStrike"/>
          </a:p>
        </p:txBody>
      </p:sp>
      <p:sp>
        <p:nvSpPr>
          <p:cNvPr id="41" name="Google Shape;41;p4"/>
          <p:cNvSpPr/>
          <p:nvPr/>
        </p:nvSpPr>
        <p:spPr>
          <a:xfrm>
            <a:off x="7747000" y="2921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Méthodologie &amp; Données</a:t>
            </a:r>
            <a:endParaRPr b="0" i="0" sz="2000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7747000" y="3327400"/>
            <a:ext cx="736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Heart Disease UCI et processus CRISP-DM</a:t>
            </a:r>
            <a:endParaRPr b="0" i="0" sz="1400" u="none" cap="none" strike="noStrike"/>
          </a:p>
        </p:txBody>
      </p:sp>
      <p:sp>
        <p:nvSpPr>
          <p:cNvPr id="43" name="Google Shape;43;p4"/>
          <p:cNvSpPr/>
          <p:nvPr/>
        </p:nvSpPr>
        <p:spPr>
          <a:xfrm>
            <a:off x="6858000" y="3873500"/>
            <a:ext cx="8382000" cy="127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858000" y="4191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3200" u="none" cap="none" strike="noStrike"/>
          </a:p>
        </p:txBody>
      </p:sp>
      <p:sp>
        <p:nvSpPr>
          <p:cNvPr id="45" name="Google Shape;45;p4"/>
          <p:cNvSpPr/>
          <p:nvPr/>
        </p:nvSpPr>
        <p:spPr>
          <a:xfrm>
            <a:off x="7747000" y="4191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Exploratoire</a:t>
            </a:r>
            <a:endParaRPr b="0" i="0" sz="2000" u="none" cap="none" strike="noStrike"/>
          </a:p>
        </p:txBody>
      </p:sp>
      <p:sp>
        <p:nvSpPr>
          <p:cNvPr id="46" name="Google Shape;46;p4"/>
          <p:cNvSpPr/>
          <p:nvPr/>
        </p:nvSpPr>
        <p:spPr>
          <a:xfrm>
            <a:off x="7747000" y="4597400"/>
            <a:ext cx="736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Statistiques descriptives, visualisations et insights</a:t>
            </a:r>
            <a:endParaRPr b="0" i="0" sz="1400" u="none" cap="none" strike="noStrike"/>
          </a:p>
        </p:txBody>
      </p:sp>
      <p:sp>
        <p:nvSpPr>
          <p:cNvPr id="47" name="Google Shape;47;p4"/>
          <p:cNvSpPr/>
          <p:nvPr/>
        </p:nvSpPr>
        <p:spPr>
          <a:xfrm>
            <a:off x="6858000" y="5143500"/>
            <a:ext cx="8382000" cy="127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858000" y="5461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3200" u="none" cap="none" strike="noStrike"/>
          </a:p>
        </p:txBody>
      </p:sp>
      <p:sp>
        <p:nvSpPr>
          <p:cNvPr id="49" name="Google Shape;49;p4"/>
          <p:cNvSpPr/>
          <p:nvPr/>
        </p:nvSpPr>
        <p:spPr>
          <a:xfrm>
            <a:off x="7747000" y="5461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Modélisation &amp; Résultats</a:t>
            </a:r>
            <a:endParaRPr b="0" i="0" sz="2000" u="none" cap="none" strike="noStrike"/>
          </a:p>
        </p:txBody>
      </p:sp>
      <p:sp>
        <p:nvSpPr>
          <p:cNvPr id="50" name="Google Shape;50;p4"/>
          <p:cNvSpPr/>
          <p:nvPr/>
        </p:nvSpPr>
        <p:spPr>
          <a:xfrm>
            <a:off x="7747000" y="5867400"/>
            <a:ext cx="736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Préparation, entraînement des modèles et évaluation</a:t>
            </a:r>
            <a:endParaRPr b="0" i="0" sz="1400" u="none" cap="none" strike="noStrike"/>
          </a:p>
        </p:txBody>
      </p:sp>
      <p:sp>
        <p:nvSpPr>
          <p:cNvPr id="51" name="Google Shape;51;p4"/>
          <p:cNvSpPr/>
          <p:nvPr/>
        </p:nvSpPr>
        <p:spPr>
          <a:xfrm>
            <a:off x="6858000" y="6413500"/>
            <a:ext cx="8382000" cy="127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858000" y="6731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3200" u="none" cap="none" strike="noStrike"/>
          </a:p>
        </p:txBody>
      </p:sp>
      <p:sp>
        <p:nvSpPr>
          <p:cNvPr id="53" name="Google Shape;53;p4"/>
          <p:cNvSpPr/>
          <p:nvPr/>
        </p:nvSpPr>
        <p:spPr>
          <a:xfrm>
            <a:off x="7747000" y="6731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Déploiement &amp; Perspectives</a:t>
            </a:r>
            <a:endParaRPr b="0" i="0" sz="2000" u="none" cap="none" strike="noStrike"/>
          </a:p>
        </p:txBody>
      </p:sp>
      <p:sp>
        <p:nvSpPr>
          <p:cNvPr id="54" name="Google Shape;54;p4"/>
          <p:cNvSpPr/>
          <p:nvPr/>
        </p:nvSpPr>
        <p:spPr>
          <a:xfrm>
            <a:off x="7747000" y="7137400"/>
            <a:ext cx="736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web Flask et améliorations futures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dmdkpifj6ckw/mnt/agents/output/heart_disease_ml/images/1_Heart_and_Stethoscope_on_Dark_Background.png" id="60" name="Google Shape;60;p5"/>
          <p:cNvPicPr preferRelativeResize="0"/>
          <p:nvPr/>
        </p:nvPicPr>
        <p:blipFill rotWithShape="1">
          <a:blip r:embed="rId3">
            <a:alphaModFix/>
          </a:blip>
          <a:srcRect b="7547" l="0" r="0" t="7547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1A1A1E">
                  <a:alpha val="80000"/>
                </a:srgbClr>
              </a:gs>
              <a:gs pos="60000">
                <a:srgbClr val="1A1A1E">
                  <a:alpha val="67058"/>
                </a:srgbClr>
              </a:gs>
              <a:gs pos="100000">
                <a:srgbClr val="1A1A1E">
                  <a:alpha val="40000"/>
                </a:srgbClr>
              </a:gs>
            </a:gsLst>
            <a:lin ang="0" scaled="0"/>
          </a:gra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9600" u="none" cap="none" strike="noStrike"/>
          </a:p>
        </p:txBody>
      </p:sp>
      <p:sp>
        <p:nvSpPr>
          <p:cNvPr id="63" name="Google Shape;63;p5"/>
          <p:cNvSpPr/>
          <p:nvPr/>
        </p:nvSpPr>
        <p:spPr>
          <a:xfrm>
            <a:off x="762000" y="3810000"/>
            <a:ext cx="1016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762000" y="4064000"/>
            <a:ext cx="889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&amp; Contexte</a:t>
            </a:r>
            <a:endParaRPr b="0" i="0" sz="4000" u="none" cap="none" strike="noStrike"/>
          </a:p>
        </p:txBody>
      </p:sp>
      <p:sp>
        <p:nvSpPr>
          <p:cNvPr id="65" name="Google Shape;65;p5"/>
          <p:cNvSpPr/>
          <p:nvPr/>
        </p:nvSpPr>
        <p:spPr>
          <a:xfrm>
            <a:off x="762000" y="4953000"/>
            <a:ext cx="762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médical, problématique et objectifs du projet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254000" y="76200"/>
            <a:ext cx="2794000" cy="304800"/>
          </a:xfrm>
          <a:prstGeom prst="roundRect">
            <a:avLst>
              <a:gd fmla="val 8000" name="adj"/>
            </a:avLst>
          </a:prstGeom>
          <a:solidFill>
            <a:srgbClr val="FFFFFF">
              <a:alpha val="13333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254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</a:t>
            </a:r>
            <a:endParaRPr b="0" i="0" sz="1200" u="none" cap="none" strike="noStrike"/>
          </a:p>
        </p:txBody>
      </p:sp>
      <p:sp>
        <p:nvSpPr>
          <p:cNvPr id="74" name="Google Shape;74;p6"/>
          <p:cNvSpPr/>
          <p:nvPr/>
        </p:nvSpPr>
        <p:spPr>
          <a:xfrm>
            <a:off x="3302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MÉTHODOLOGIE</a:t>
            </a:r>
            <a:endParaRPr b="0" i="0" sz="1200" u="none" cap="none" strike="noStrike"/>
          </a:p>
        </p:txBody>
      </p:sp>
      <p:sp>
        <p:nvSpPr>
          <p:cNvPr id="75" name="Google Shape;75;p6"/>
          <p:cNvSpPr/>
          <p:nvPr/>
        </p:nvSpPr>
        <p:spPr>
          <a:xfrm>
            <a:off x="6350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ANALYSE</a:t>
            </a:r>
            <a:endParaRPr b="0" i="0" sz="1200" u="none" cap="none" strike="noStrike"/>
          </a:p>
        </p:txBody>
      </p:sp>
      <p:sp>
        <p:nvSpPr>
          <p:cNvPr id="76" name="Google Shape;76;p6"/>
          <p:cNvSpPr/>
          <p:nvPr/>
        </p:nvSpPr>
        <p:spPr>
          <a:xfrm>
            <a:off x="9398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MODÉLISATION</a:t>
            </a:r>
            <a:endParaRPr b="0" i="0" sz="1200" u="none" cap="none" strike="noStrike"/>
          </a:p>
        </p:txBody>
      </p:sp>
      <p:sp>
        <p:nvSpPr>
          <p:cNvPr id="77" name="Google Shape;77;p6"/>
          <p:cNvSpPr/>
          <p:nvPr/>
        </p:nvSpPr>
        <p:spPr>
          <a:xfrm>
            <a:off x="12446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DÉPLOIEMENT</a:t>
            </a:r>
            <a:endParaRPr b="0" i="0" sz="1200" u="none" cap="none" strike="noStrike"/>
          </a:p>
        </p:txBody>
      </p:sp>
      <p:sp>
        <p:nvSpPr>
          <p:cNvPr id="78" name="Google Shape;78;p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Médical et Problématique</a:t>
            </a:r>
            <a:endParaRPr b="0" i="0" sz="2800" u="none" cap="none" strike="noStrike"/>
          </a:p>
        </p:txBody>
      </p:sp>
      <p:sp>
        <p:nvSpPr>
          <p:cNvPr id="79" name="Google Shape;79;p6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762000" y="1587500"/>
            <a:ext cx="4572000" cy="1651000"/>
          </a:xfrm>
          <a:prstGeom prst="roundRect">
            <a:avLst>
              <a:gd fmla="val 4000" name="adj"/>
            </a:avLst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016000" y="1778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498600" y="1778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Maladies Cardiovasculaires</a:t>
            </a:r>
            <a:endParaRPr b="0" i="0" sz="1600" u="none" cap="none" strike="noStrike"/>
          </a:p>
        </p:txBody>
      </p:sp>
      <p:sp>
        <p:nvSpPr>
          <p:cNvPr id="83" name="Google Shape;83;p6"/>
          <p:cNvSpPr/>
          <p:nvPr/>
        </p:nvSpPr>
        <p:spPr>
          <a:xfrm>
            <a:off x="1016000" y="2222500"/>
            <a:ext cx="406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Première cause de décès dans le monde (OMS). La détection précoce permet des interventions préventives.</a:t>
            </a:r>
            <a:endParaRPr b="0" i="0" sz="1400" u="none" cap="none" strike="noStrike"/>
          </a:p>
        </p:txBody>
      </p:sp>
      <p:sp>
        <p:nvSpPr>
          <p:cNvPr id="84" name="Google Shape;84;p6"/>
          <p:cNvSpPr/>
          <p:nvPr/>
        </p:nvSpPr>
        <p:spPr>
          <a:xfrm>
            <a:off x="5588000" y="1587500"/>
            <a:ext cx="4572000" cy="1651000"/>
          </a:xfrm>
          <a:prstGeom prst="roundRect">
            <a:avLst>
              <a:gd fmla="val 4000" name="adj"/>
            </a:avLst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842000" y="1778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324600" y="1778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Problématique</a:t>
            </a:r>
            <a:endParaRPr b="0" i="0" sz="1600" u="none" cap="none" strike="noStrike"/>
          </a:p>
        </p:txBody>
      </p:sp>
      <p:sp>
        <p:nvSpPr>
          <p:cNvPr id="87" name="Google Shape;87;p6"/>
          <p:cNvSpPr/>
          <p:nvPr/>
        </p:nvSpPr>
        <p:spPr>
          <a:xfrm>
            <a:off x="5842000" y="2222500"/>
            <a:ext cx="4064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Comment prédire le risque de maladie cardiaque à partir de caractéristiques médicales simples ?</a:t>
            </a:r>
            <a:endParaRPr b="0" i="0" sz="1400" u="none" cap="none" strike="noStrike"/>
          </a:p>
        </p:txBody>
      </p:sp>
      <p:sp>
        <p:nvSpPr>
          <p:cNvPr id="88" name="Google Shape;88;p6"/>
          <p:cNvSpPr/>
          <p:nvPr/>
        </p:nvSpPr>
        <p:spPr>
          <a:xfrm>
            <a:off x="10414000" y="1587500"/>
            <a:ext cx="5080000" cy="1651000"/>
          </a:xfrm>
          <a:prstGeom prst="roundRect">
            <a:avLst>
              <a:gd fmla="val 4000" name="adj"/>
            </a:avLst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0668000" y="1778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-11112"/>
                </a:moveTo>
                <a:cubicBezTo>
                  <a:pt x="188727" y="-11112"/>
                  <a:pt x="197556" y="-1181"/>
                  <a:pt x="197556" y="11112"/>
                </a:cubicBezTo>
                <a:lnTo>
                  <a:pt x="197556" y="23822"/>
                </a:lnTo>
                <a:cubicBezTo>
                  <a:pt x="258119" y="33546"/>
                  <a:pt x="306026" y="87441"/>
                  <a:pt x="314669" y="155575"/>
                </a:cubicBezTo>
                <a:lnTo>
                  <a:pt x="325967" y="155575"/>
                </a:lnTo>
                <a:cubicBezTo>
                  <a:pt x="336894" y="155575"/>
                  <a:pt x="345722" y="165507"/>
                  <a:pt x="345722" y="177800"/>
                </a:cubicBezTo>
                <a:cubicBezTo>
                  <a:pt x="345722" y="190093"/>
                  <a:pt x="336894" y="200025"/>
                  <a:pt x="325967" y="200025"/>
                </a:cubicBezTo>
                <a:lnTo>
                  <a:pt x="314669" y="200025"/>
                </a:lnTo>
                <a:cubicBezTo>
                  <a:pt x="306026" y="268159"/>
                  <a:pt x="258119" y="322054"/>
                  <a:pt x="197556" y="331778"/>
                </a:cubicBezTo>
                <a:lnTo>
                  <a:pt x="197556" y="344488"/>
                </a:lnTo>
                <a:cubicBezTo>
                  <a:pt x="197556" y="356781"/>
                  <a:pt x="188727" y="366712"/>
                  <a:pt x="177800" y="366712"/>
                </a:cubicBezTo>
                <a:cubicBezTo>
                  <a:pt x="166873" y="366712"/>
                  <a:pt x="158044" y="356781"/>
                  <a:pt x="158044" y="344488"/>
                </a:cubicBezTo>
                <a:lnTo>
                  <a:pt x="158044" y="331778"/>
                </a:lnTo>
                <a:cubicBezTo>
                  <a:pt x="97481" y="322054"/>
                  <a:pt x="49574" y="268159"/>
                  <a:pt x="40931" y="200025"/>
                </a:cubicBezTo>
                <a:lnTo>
                  <a:pt x="29633" y="200025"/>
                </a:lnTo>
                <a:cubicBezTo>
                  <a:pt x="18706" y="200025"/>
                  <a:pt x="9878" y="190093"/>
                  <a:pt x="9878" y="177800"/>
                </a:cubicBezTo>
                <a:cubicBezTo>
                  <a:pt x="9878" y="165507"/>
                  <a:pt x="18706" y="155575"/>
                  <a:pt x="29633" y="155575"/>
                </a:cubicBezTo>
                <a:lnTo>
                  <a:pt x="40931" y="155575"/>
                </a:lnTo>
                <a:cubicBezTo>
                  <a:pt x="49574" y="87441"/>
                  <a:pt x="97481" y="33546"/>
                  <a:pt x="158044" y="23822"/>
                </a:cubicBezTo>
                <a:lnTo>
                  <a:pt x="158044" y="11112"/>
                </a:lnTo>
                <a:cubicBezTo>
                  <a:pt x="158044" y="-1181"/>
                  <a:pt x="166873" y="-11112"/>
                  <a:pt x="177800" y="-11112"/>
                </a:cubicBezTo>
                <a:close/>
                <a:moveTo>
                  <a:pt x="80998" y="200025"/>
                </a:moveTo>
                <a:cubicBezTo>
                  <a:pt x="88838" y="243572"/>
                  <a:pt x="119336" y="277882"/>
                  <a:pt x="158044" y="286703"/>
                </a:cubicBezTo>
                <a:lnTo>
                  <a:pt x="158044" y="277813"/>
                </a:lnTo>
                <a:cubicBezTo>
                  <a:pt x="158044" y="265519"/>
                  <a:pt x="166873" y="255587"/>
                  <a:pt x="177800" y="255587"/>
                </a:cubicBezTo>
                <a:cubicBezTo>
                  <a:pt x="188727" y="255587"/>
                  <a:pt x="197556" y="265519"/>
                  <a:pt x="197556" y="277813"/>
                </a:cubicBezTo>
                <a:lnTo>
                  <a:pt x="197556" y="286703"/>
                </a:lnTo>
                <a:cubicBezTo>
                  <a:pt x="236264" y="277882"/>
                  <a:pt x="266762" y="243572"/>
                  <a:pt x="274602" y="200025"/>
                </a:cubicBezTo>
                <a:lnTo>
                  <a:pt x="266700" y="200025"/>
                </a:lnTo>
                <a:cubicBezTo>
                  <a:pt x="255773" y="200025"/>
                  <a:pt x="246944" y="190093"/>
                  <a:pt x="246944" y="177800"/>
                </a:cubicBezTo>
                <a:cubicBezTo>
                  <a:pt x="246944" y="165507"/>
                  <a:pt x="255773" y="155575"/>
                  <a:pt x="266700" y="155575"/>
                </a:cubicBezTo>
                <a:lnTo>
                  <a:pt x="274602" y="155575"/>
                </a:lnTo>
                <a:cubicBezTo>
                  <a:pt x="266762" y="112028"/>
                  <a:pt x="236264" y="77718"/>
                  <a:pt x="197556" y="68898"/>
                </a:cubicBezTo>
                <a:lnTo>
                  <a:pt x="197556" y="77788"/>
                </a:lnTo>
                <a:cubicBezTo>
                  <a:pt x="197556" y="90081"/>
                  <a:pt x="188727" y="100013"/>
                  <a:pt x="177800" y="100013"/>
                </a:cubicBezTo>
                <a:cubicBezTo>
                  <a:pt x="166873" y="100013"/>
                  <a:pt x="158044" y="90081"/>
                  <a:pt x="158044" y="77788"/>
                </a:cubicBezTo>
                <a:lnTo>
                  <a:pt x="158044" y="68898"/>
                </a:lnTo>
                <a:cubicBezTo>
                  <a:pt x="119336" y="77718"/>
                  <a:pt x="88838" y="112028"/>
                  <a:pt x="80998" y="155575"/>
                </a:cubicBezTo>
                <a:lnTo>
                  <a:pt x="88900" y="155575"/>
                </a:lnTo>
                <a:cubicBezTo>
                  <a:pt x="99827" y="155575"/>
                  <a:pt x="108656" y="165507"/>
                  <a:pt x="108656" y="177800"/>
                </a:cubicBezTo>
                <a:cubicBezTo>
                  <a:pt x="108656" y="190093"/>
                  <a:pt x="99827" y="200025"/>
                  <a:pt x="88900" y="200025"/>
                </a:cubicBezTo>
                <a:lnTo>
                  <a:pt x="80998" y="200025"/>
                </a:lnTo>
                <a:close/>
                <a:moveTo>
                  <a:pt x="177800" y="144463"/>
                </a:moveTo>
                <a:cubicBezTo>
                  <a:pt x="194155" y="144463"/>
                  <a:pt x="207433" y="159401"/>
                  <a:pt x="207433" y="177800"/>
                </a:cubicBezTo>
                <a:cubicBezTo>
                  <a:pt x="207433" y="196199"/>
                  <a:pt x="194155" y="211138"/>
                  <a:pt x="177800" y="211138"/>
                </a:cubicBezTo>
                <a:cubicBezTo>
                  <a:pt x="161445" y="211138"/>
                  <a:pt x="148167" y="196199"/>
                  <a:pt x="148167" y="177800"/>
                </a:cubicBezTo>
                <a:cubicBezTo>
                  <a:pt x="148167" y="159401"/>
                  <a:pt x="161445" y="144463"/>
                  <a:pt x="177800" y="144463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1150600" y="17780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Objectif du Projet</a:t>
            </a:r>
            <a:endParaRPr b="0" i="0" sz="1600" u="none" cap="none" strike="noStrike"/>
          </a:p>
        </p:txBody>
      </p:sp>
      <p:sp>
        <p:nvSpPr>
          <p:cNvPr id="91" name="Google Shape;91;p6"/>
          <p:cNvSpPr/>
          <p:nvPr/>
        </p:nvSpPr>
        <p:spPr>
          <a:xfrm>
            <a:off x="10668000" y="2222500"/>
            <a:ext cx="457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Construire un modèle de Machine Learning pour la classification binaire (0 = sain, 1 = maladie).</a:t>
            </a:r>
            <a:endParaRPr b="0" i="0" sz="1400" u="none" cap="none" strike="noStrike"/>
          </a:p>
        </p:txBody>
      </p:sp>
      <p:sp>
        <p:nvSpPr>
          <p:cNvPr id="92" name="Google Shape;92;p6"/>
          <p:cNvSpPr/>
          <p:nvPr/>
        </p:nvSpPr>
        <p:spPr>
          <a:xfrm>
            <a:off x="762000" y="3556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Caractéristiques du Projet</a:t>
            </a:r>
            <a:endParaRPr b="0" i="0" sz="2200" u="none" cap="none" strike="noStrike"/>
          </a:p>
        </p:txBody>
      </p:sp>
      <p:sp>
        <p:nvSpPr>
          <p:cNvPr id="93" name="Google Shape;93;p6"/>
          <p:cNvSpPr/>
          <p:nvPr/>
        </p:nvSpPr>
        <p:spPr>
          <a:xfrm>
            <a:off x="762000" y="4127500"/>
            <a:ext cx="7112000" cy="254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079500" y="4381500"/>
            <a:ext cx="6477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</a:t>
            </a:r>
            <a:r>
              <a:rPr b="0" i="0" lang="en-US" sz="18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1025 patients, 14 variables médicales</a:t>
            </a:r>
            <a:endParaRPr b="0" i="0" sz="18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 de problème</a:t>
            </a:r>
            <a:r>
              <a:rPr b="0" i="0" lang="en-US" sz="18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Classification binaire supervisée</a:t>
            </a:r>
            <a:endParaRPr b="0" i="0" sz="18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Approche</a:t>
            </a:r>
            <a:r>
              <a:rPr b="0" i="0" lang="en-US" sz="18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Processus CRISP-DM en 7 étapes</a:t>
            </a:r>
            <a:endParaRPr b="0" i="0" sz="18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</a:t>
            </a:r>
            <a:r>
              <a:rPr b="0" i="0" lang="en-US" sz="18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Heart Disease UCI Repository</a:t>
            </a:r>
            <a:endParaRPr b="0" i="0" sz="1800" u="none" cap="none" strike="noStrike"/>
          </a:p>
        </p:txBody>
      </p:sp>
      <p:sp>
        <p:nvSpPr>
          <p:cNvPr id="95" name="Google Shape;95;p6"/>
          <p:cNvSpPr/>
          <p:nvPr/>
        </p:nvSpPr>
        <p:spPr>
          <a:xfrm>
            <a:off x="8128000" y="4127500"/>
            <a:ext cx="7366000" cy="2540000"/>
          </a:xfrm>
          <a:prstGeom prst="roundRect">
            <a:avLst>
              <a:gd fmla="val 4000" name="adj"/>
            </a:avLst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509000" y="43815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 7 étapes CRISP-DM</a:t>
            </a:r>
            <a:endParaRPr b="0" i="0" sz="1800" u="none" cap="none" strike="noStrike"/>
          </a:p>
        </p:txBody>
      </p:sp>
      <p:sp>
        <p:nvSpPr>
          <p:cNvPr id="97" name="Google Shape;97;p6"/>
          <p:cNvSpPr/>
          <p:nvPr/>
        </p:nvSpPr>
        <p:spPr>
          <a:xfrm>
            <a:off x="8509000" y="4889500"/>
            <a:ext cx="660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Business Understanding  →  2. Data Understanding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Data Visualization  →  4. Data Preparation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Modeling  →  6. Evaluation  →  7. Deployment</a:t>
            </a:r>
            <a:endParaRPr b="0" i="0" sz="1400" u="none" cap="none" strike="noStrike"/>
          </a:p>
        </p:txBody>
      </p:sp>
      <p:sp>
        <p:nvSpPr>
          <p:cNvPr id="98" name="Google Shape;98;p6"/>
          <p:cNvSpPr/>
          <p:nvPr/>
        </p:nvSpPr>
        <p:spPr>
          <a:xfrm>
            <a:off x="762000" y="7048500"/>
            <a:ext cx="14732000" cy="1016000"/>
          </a:xfrm>
          <a:prstGeom prst="roundRect">
            <a:avLst>
              <a:gd fmla="val 3000" name="adj"/>
            </a:avLst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079500" y="7302500"/>
            <a:ext cx="457200" cy="457200"/>
          </a:xfrm>
          <a:custGeom>
            <a:rect b="b" l="l" r="r" t="t"/>
            <a:pathLst>
              <a:path extrusionOk="0" h="457200" w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1714500" y="7175500"/>
            <a:ext cx="134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Valeur ajoutée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Ce projet démontre l'application concrète du Machine Learning dans le domaine médical, en suivant une méthodologie rigoureuse et reproductible pour la prédiction de risques sanitaires.</a:t>
            </a:r>
            <a:endParaRPr b="0" i="0" sz="1600" u="none" cap="none" strike="noStrike"/>
          </a:p>
        </p:txBody>
      </p:sp>
      <p:sp>
        <p:nvSpPr>
          <p:cNvPr id="101" name="Google Shape;101;p6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dmdkpifj6ckw/mnt/agents/output/heart_disease_ml/images/5_Ekg_blue_heart_rate_monitor_hi_res.png" id="107" name="Google Shape;107;p7"/>
          <p:cNvPicPr preferRelativeResize="0"/>
          <p:nvPr/>
        </p:nvPicPr>
        <p:blipFill rotWithShape="1">
          <a:blip r:embed="rId3">
            <a:alphaModFix/>
          </a:blip>
          <a:srcRect b="5466" l="0" r="0" t="5466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1A1A1E">
                  <a:alpha val="80000"/>
                </a:srgbClr>
              </a:gs>
              <a:gs pos="60000">
                <a:srgbClr val="1A1A1E">
                  <a:alpha val="67058"/>
                </a:srgbClr>
              </a:gs>
              <a:gs pos="100000">
                <a:srgbClr val="1A1A1E">
                  <a:alpha val="40000"/>
                </a:srgbClr>
              </a:gs>
            </a:gsLst>
            <a:lin ang="0" scaled="0"/>
          </a:gra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9600" u="none" cap="none" strike="noStrike"/>
          </a:p>
        </p:txBody>
      </p:sp>
      <p:sp>
        <p:nvSpPr>
          <p:cNvPr id="110" name="Google Shape;110;p7"/>
          <p:cNvSpPr/>
          <p:nvPr/>
        </p:nvSpPr>
        <p:spPr>
          <a:xfrm>
            <a:off x="762000" y="3810000"/>
            <a:ext cx="1016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762000" y="4064000"/>
            <a:ext cx="889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Méthodologie &amp; Données</a:t>
            </a:r>
            <a:endParaRPr b="0" i="0" sz="4000" u="none" cap="none" strike="noStrike"/>
          </a:p>
        </p:txBody>
      </p:sp>
      <p:sp>
        <p:nvSpPr>
          <p:cNvPr id="112" name="Google Shape;112;p7"/>
          <p:cNvSpPr/>
          <p:nvPr/>
        </p:nvSpPr>
        <p:spPr>
          <a:xfrm>
            <a:off x="762000" y="4953000"/>
            <a:ext cx="762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Dataset, variables et processus CRISP-DM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3302000" y="76200"/>
            <a:ext cx="2794000" cy="304800"/>
          </a:xfrm>
          <a:prstGeom prst="roundRect">
            <a:avLst>
              <a:gd fmla="val 8000" name="adj"/>
            </a:avLst>
          </a:prstGeom>
          <a:solidFill>
            <a:srgbClr val="FFFFFF">
              <a:alpha val="13333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254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</a:t>
            </a:r>
            <a:endParaRPr b="0" i="0" sz="1200" u="none" cap="none" strike="noStrike"/>
          </a:p>
        </p:txBody>
      </p:sp>
      <p:sp>
        <p:nvSpPr>
          <p:cNvPr id="121" name="Google Shape;121;p8"/>
          <p:cNvSpPr/>
          <p:nvPr/>
        </p:nvSpPr>
        <p:spPr>
          <a:xfrm>
            <a:off x="3302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MÉTHODOLOGIE</a:t>
            </a:r>
            <a:endParaRPr b="0" i="0" sz="1200" u="none" cap="none" strike="noStrike"/>
          </a:p>
        </p:txBody>
      </p:sp>
      <p:sp>
        <p:nvSpPr>
          <p:cNvPr id="122" name="Google Shape;122;p8"/>
          <p:cNvSpPr/>
          <p:nvPr/>
        </p:nvSpPr>
        <p:spPr>
          <a:xfrm>
            <a:off x="6350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ANALYSE</a:t>
            </a:r>
            <a:endParaRPr b="0" i="0" sz="1200" u="none" cap="none" strike="noStrike"/>
          </a:p>
        </p:txBody>
      </p:sp>
      <p:sp>
        <p:nvSpPr>
          <p:cNvPr id="123" name="Google Shape;123;p8"/>
          <p:cNvSpPr/>
          <p:nvPr/>
        </p:nvSpPr>
        <p:spPr>
          <a:xfrm>
            <a:off x="9398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MODÉLISATION</a:t>
            </a:r>
            <a:endParaRPr b="0" i="0" sz="1200" u="none" cap="none" strike="noStrike"/>
          </a:p>
        </p:txBody>
      </p:sp>
      <p:sp>
        <p:nvSpPr>
          <p:cNvPr id="124" name="Google Shape;124;p8"/>
          <p:cNvSpPr/>
          <p:nvPr/>
        </p:nvSpPr>
        <p:spPr>
          <a:xfrm>
            <a:off x="12446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DÉPLOIEMENT</a:t>
            </a:r>
            <a:endParaRPr b="0" i="0" sz="1200" u="none" cap="none" strike="noStrike"/>
          </a:p>
        </p:txBody>
      </p:sp>
      <p:sp>
        <p:nvSpPr>
          <p:cNvPr id="125" name="Google Shape;125;p8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et Processus CRISP-DM</a:t>
            </a:r>
            <a:endParaRPr b="0" i="0" sz="2800" u="none" cap="none" strike="noStrike"/>
          </a:p>
        </p:txBody>
      </p:sp>
      <p:sp>
        <p:nvSpPr>
          <p:cNvPr id="126" name="Google Shape;126;p8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Heart Disease UCI</a:t>
            </a:r>
            <a:endParaRPr b="0" i="0" sz="2200" u="none" cap="none" strike="noStrike"/>
          </a:p>
        </p:txBody>
      </p:sp>
      <p:graphicFrame>
        <p:nvGraphicFramePr>
          <p:cNvPr id="128" name="Google Shape;128;p8"/>
          <p:cNvGraphicFramePr/>
          <p:nvPr/>
        </p:nvGraphicFramePr>
        <p:xfrm>
          <a:off x="762000" y="20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{F5BF2007-1E79-43B9-85B4-26E9415AB803}</a:tableStyleId>
              </a:tblPr>
              <a:tblGrid>
                <a:gridCol w="2400300"/>
                <a:gridCol w="4457700"/>
              </a:tblGrid>
              <a:tr h="44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Attribut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Description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E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âge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Âge du patient (en années)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sexe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Sexe (0 = femme, 1 = homme)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cp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Type de douleur thoracique (0-3)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trestbps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Pression artérielle au repos (mmHg)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chol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Cholestérol sérique (mg/dl)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thalach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Fréquence cardiaque maximale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8"/>
          <p:cNvSpPr/>
          <p:nvPr/>
        </p:nvSpPr>
        <p:spPr>
          <a:xfrm>
            <a:off x="762000" y="53086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 1 — Extrait des 14 variables du dataset (1025 patients)</a:t>
            </a:r>
            <a:endParaRPr b="0" i="0" sz="1400" u="none" cap="none" strike="noStrike"/>
          </a:p>
        </p:txBody>
      </p:sp>
      <p:sp>
        <p:nvSpPr>
          <p:cNvPr id="130" name="Google Shape;130;p8"/>
          <p:cNvSpPr/>
          <p:nvPr/>
        </p:nvSpPr>
        <p:spPr>
          <a:xfrm>
            <a:off x="8128000" y="1524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Processus CRISP-DM</a:t>
            </a:r>
            <a:endParaRPr b="0" i="0" sz="2200" u="none" cap="none" strike="noStrike"/>
          </a:p>
        </p:txBody>
      </p:sp>
      <p:sp>
        <p:nvSpPr>
          <p:cNvPr id="131" name="Google Shape;131;p8"/>
          <p:cNvSpPr/>
          <p:nvPr/>
        </p:nvSpPr>
        <p:spPr>
          <a:xfrm>
            <a:off x="8128000" y="2032000"/>
            <a:ext cx="7366000" cy="482600"/>
          </a:xfrm>
          <a:prstGeom prst="roundRect">
            <a:avLst>
              <a:gd fmla="val 6000" name="adj"/>
            </a:avLst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8382000" y="2032000"/>
            <a:ext cx="6858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Business Understanding — Contexte et objectifs</a:t>
            </a:r>
            <a:endParaRPr b="0" i="0" sz="1400" u="none" cap="none" strike="noStrike"/>
          </a:p>
        </p:txBody>
      </p:sp>
      <p:cxnSp>
        <p:nvCxnSpPr>
          <p:cNvPr id="133" name="Google Shape;133;p8"/>
          <p:cNvCxnSpPr/>
          <p:nvPr/>
        </p:nvCxnSpPr>
        <p:spPr>
          <a:xfrm>
            <a:off x="11684000" y="2514600"/>
            <a:ext cx="0" cy="152400"/>
          </a:xfrm>
          <a:prstGeom prst="straightConnector1">
            <a:avLst/>
          </a:prstGeom>
          <a:noFill/>
          <a:ln cap="flat" cmpd="sng" w="25400">
            <a:solidFill>
              <a:srgbClr val="6B7B8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4" name="Google Shape;134;p8"/>
          <p:cNvSpPr/>
          <p:nvPr/>
        </p:nvSpPr>
        <p:spPr>
          <a:xfrm>
            <a:off x="8128000" y="2667000"/>
            <a:ext cx="7366000" cy="482600"/>
          </a:xfrm>
          <a:prstGeom prst="roundRect">
            <a:avLst>
              <a:gd fmla="val 6000" name="adj"/>
            </a:avLst>
          </a:prstGeom>
          <a:solidFill>
            <a:srgbClr val="3D4F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8382000" y="2667000"/>
            <a:ext cx="6858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Data Understanding — Analyse exploratoire</a:t>
            </a:r>
            <a:endParaRPr b="0" i="0" sz="1400" u="none" cap="none" strike="noStrike"/>
          </a:p>
        </p:txBody>
      </p:sp>
      <p:cxnSp>
        <p:nvCxnSpPr>
          <p:cNvPr id="136" name="Google Shape;136;p8"/>
          <p:cNvCxnSpPr/>
          <p:nvPr/>
        </p:nvCxnSpPr>
        <p:spPr>
          <a:xfrm>
            <a:off x="11684000" y="3149600"/>
            <a:ext cx="0" cy="152400"/>
          </a:xfrm>
          <a:prstGeom prst="straightConnector1">
            <a:avLst/>
          </a:prstGeom>
          <a:noFill/>
          <a:ln cap="flat" cmpd="sng" w="25400">
            <a:solidFill>
              <a:srgbClr val="6B7B8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7" name="Google Shape;137;p8"/>
          <p:cNvSpPr/>
          <p:nvPr/>
        </p:nvSpPr>
        <p:spPr>
          <a:xfrm>
            <a:off x="8128000" y="3302000"/>
            <a:ext cx="7366000" cy="482600"/>
          </a:xfrm>
          <a:prstGeom prst="roundRect">
            <a:avLst>
              <a:gd fmla="val 6000" name="adj"/>
            </a:avLst>
          </a:prstGeom>
          <a:solidFill>
            <a:srgbClr val="4E62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8382000" y="3302000"/>
            <a:ext cx="6858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Data Visualization — Visualisation des relations</a:t>
            </a:r>
            <a:endParaRPr b="0" i="0" sz="1400" u="none" cap="none" strike="noStrike"/>
          </a:p>
        </p:txBody>
      </p:sp>
      <p:cxnSp>
        <p:nvCxnSpPr>
          <p:cNvPr id="139" name="Google Shape;139;p8"/>
          <p:cNvCxnSpPr/>
          <p:nvPr/>
        </p:nvCxnSpPr>
        <p:spPr>
          <a:xfrm>
            <a:off x="11684000" y="3784600"/>
            <a:ext cx="0" cy="152400"/>
          </a:xfrm>
          <a:prstGeom prst="straightConnector1">
            <a:avLst/>
          </a:prstGeom>
          <a:noFill/>
          <a:ln cap="flat" cmpd="sng" w="25400">
            <a:solidFill>
              <a:srgbClr val="6B7B8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0" name="Google Shape;140;p8"/>
          <p:cNvSpPr/>
          <p:nvPr/>
        </p:nvSpPr>
        <p:spPr>
          <a:xfrm>
            <a:off x="8128000" y="3937000"/>
            <a:ext cx="7366000" cy="482600"/>
          </a:xfrm>
          <a:prstGeom prst="roundRect">
            <a:avLst>
              <a:gd fmla="val 6000" name="adj"/>
            </a:avLst>
          </a:prstGeom>
          <a:solidFill>
            <a:srgbClr val="5F74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8382000" y="3937000"/>
            <a:ext cx="6858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Data Preparation — Nettoyage et préparation</a:t>
            </a:r>
            <a:endParaRPr b="0" i="0" sz="1400" u="none" cap="none" strike="noStrike"/>
          </a:p>
        </p:txBody>
      </p:sp>
      <p:cxnSp>
        <p:nvCxnSpPr>
          <p:cNvPr id="142" name="Google Shape;142;p8"/>
          <p:cNvCxnSpPr/>
          <p:nvPr/>
        </p:nvCxnSpPr>
        <p:spPr>
          <a:xfrm>
            <a:off x="11684000" y="4419600"/>
            <a:ext cx="0" cy="152400"/>
          </a:xfrm>
          <a:prstGeom prst="straightConnector1">
            <a:avLst/>
          </a:prstGeom>
          <a:noFill/>
          <a:ln cap="flat" cmpd="sng" w="25400">
            <a:solidFill>
              <a:srgbClr val="6B7B8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3" name="Google Shape;143;p8"/>
          <p:cNvSpPr/>
          <p:nvPr/>
        </p:nvSpPr>
        <p:spPr>
          <a:xfrm>
            <a:off x="8128000" y="4572000"/>
            <a:ext cx="7366000" cy="482600"/>
          </a:xfrm>
          <a:prstGeom prst="roundRect">
            <a:avLst>
              <a:gd fmla="val 6000" name="adj"/>
            </a:avLst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8382000" y="4572000"/>
            <a:ext cx="6858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Modeling — Entraînement des modèles</a:t>
            </a:r>
            <a:endParaRPr b="0" i="0" sz="1400" u="none" cap="none" strike="noStrike"/>
          </a:p>
        </p:txBody>
      </p:sp>
      <p:cxnSp>
        <p:nvCxnSpPr>
          <p:cNvPr id="145" name="Google Shape;145;p8"/>
          <p:cNvCxnSpPr/>
          <p:nvPr/>
        </p:nvCxnSpPr>
        <p:spPr>
          <a:xfrm>
            <a:off x="11684000" y="5054600"/>
            <a:ext cx="0" cy="152400"/>
          </a:xfrm>
          <a:prstGeom prst="straightConnector1">
            <a:avLst/>
          </a:prstGeom>
          <a:noFill/>
          <a:ln cap="flat" cmpd="sng" w="25400">
            <a:solidFill>
              <a:srgbClr val="6B7B8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6" name="Google Shape;146;p8"/>
          <p:cNvSpPr/>
          <p:nvPr/>
        </p:nvSpPr>
        <p:spPr>
          <a:xfrm>
            <a:off x="8128000" y="5207000"/>
            <a:ext cx="7366000" cy="482600"/>
          </a:xfrm>
          <a:prstGeom prst="roundRect">
            <a:avLst>
              <a:gd fmla="val 6000" name="adj"/>
            </a:avLst>
          </a:prstGeom>
          <a:solidFill>
            <a:srgbClr val="8A6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8382000" y="5207000"/>
            <a:ext cx="6858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Evaluation — Comparaison des performances</a:t>
            </a:r>
            <a:endParaRPr b="0" i="0" sz="1400" u="none" cap="none" strike="noStrike"/>
          </a:p>
        </p:txBody>
      </p:sp>
      <p:cxnSp>
        <p:nvCxnSpPr>
          <p:cNvPr id="148" name="Google Shape;148;p8"/>
          <p:cNvCxnSpPr/>
          <p:nvPr/>
        </p:nvCxnSpPr>
        <p:spPr>
          <a:xfrm>
            <a:off x="11684000" y="5689600"/>
            <a:ext cx="0" cy="152400"/>
          </a:xfrm>
          <a:prstGeom prst="straightConnector1">
            <a:avLst/>
          </a:prstGeom>
          <a:noFill/>
          <a:ln cap="flat" cmpd="sng" w="25400">
            <a:solidFill>
              <a:srgbClr val="6B7B8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9" name="Google Shape;149;p8"/>
          <p:cNvSpPr/>
          <p:nvPr/>
        </p:nvSpPr>
        <p:spPr>
          <a:xfrm>
            <a:off x="8128000" y="5842000"/>
            <a:ext cx="7366000" cy="482600"/>
          </a:xfrm>
          <a:prstGeom prst="roundRect">
            <a:avLst>
              <a:gd fmla="val 6000" name="adj"/>
            </a:avLst>
          </a:prstGeom>
          <a:solidFill>
            <a:srgbClr val="9B7D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382000" y="5842000"/>
            <a:ext cx="6858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Deployment — Déploiement via application web</a:t>
            </a:r>
            <a:endParaRPr b="0" i="0" sz="1400" u="none" cap="none" strike="noStrike"/>
          </a:p>
        </p:txBody>
      </p:sp>
      <p:sp>
        <p:nvSpPr>
          <p:cNvPr id="151" name="Google Shape;151;p8"/>
          <p:cNvSpPr/>
          <p:nvPr/>
        </p:nvSpPr>
        <p:spPr>
          <a:xfrm>
            <a:off x="762000" y="6731000"/>
            <a:ext cx="14732000" cy="1270000"/>
          </a:xfrm>
          <a:prstGeom prst="roundRect">
            <a:avLst>
              <a:gd fmla="val 3000" name="adj"/>
            </a:avLst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1079500" y="6921500"/>
            <a:ext cx="14097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Variable cible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</a:t>
            </a:r>
            <a:r>
              <a:rPr b="1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(0 = pas de maladie cardiaque, 1 = présence de maladie cardiaque)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UCI Machine Learning Repository — Dataset largement utilisé dans la littérature scientifique</a:t>
            </a:r>
            <a:endParaRPr b="0" i="0" sz="1600" u="none" cap="none" strike="noStrike"/>
          </a:p>
        </p:txBody>
      </p:sp>
      <p:sp>
        <p:nvSpPr>
          <p:cNvPr id="153" name="Google Shape;153;p8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dmdkpifj6ckw/mnt/agents/output/heart_disease_ml/images/3_Healthcare_Dashboard_Examples_Different.png"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4668" r="4668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1A1A1E">
                  <a:alpha val="80000"/>
                </a:srgbClr>
              </a:gs>
              <a:gs pos="60000">
                <a:srgbClr val="1A1A1E">
                  <a:alpha val="67058"/>
                </a:srgbClr>
              </a:gs>
              <a:gs pos="100000">
                <a:srgbClr val="1A1A1E">
                  <a:alpha val="40000"/>
                </a:srgbClr>
              </a:gs>
            </a:gsLst>
            <a:lin ang="0" scaled="0"/>
          </a:gra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9600" u="none" cap="none" strike="noStrike"/>
          </a:p>
        </p:txBody>
      </p:sp>
      <p:sp>
        <p:nvSpPr>
          <p:cNvPr id="162" name="Google Shape;162;p9"/>
          <p:cNvSpPr/>
          <p:nvPr/>
        </p:nvSpPr>
        <p:spPr>
          <a:xfrm>
            <a:off x="762000" y="3810000"/>
            <a:ext cx="1016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62000" y="4064000"/>
            <a:ext cx="889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Exploratoire</a:t>
            </a:r>
            <a:endParaRPr b="0" i="0" sz="4000" u="none" cap="none" strike="noStrike"/>
          </a:p>
        </p:txBody>
      </p:sp>
      <p:sp>
        <p:nvSpPr>
          <p:cNvPr id="164" name="Google Shape;164;p9"/>
          <p:cNvSpPr/>
          <p:nvPr/>
        </p:nvSpPr>
        <p:spPr>
          <a:xfrm>
            <a:off x="762000" y="4953000"/>
            <a:ext cx="762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Statistiques descriptives, visualisations et insights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6350000" y="76200"/>
            <a:ext cx="2794000" cy="304800"/>
          </a:xfrm>
          <a:prstGeom prst="roundRect">
            <a:avLst>
              <a:gd fmla="val 8000" name="adj"/>
            </a:avLst>
          </a:prstGeom>
          <a:solidFill>
            <a:srgbClr val="FFFFFF">
              <a:alpha val="13333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254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</a:t>
            </a:r>
            <a:endParaRPr b="0" i="0" sz="1200" u="none" cap="none" strike="noStrike"/>
          </a:p>
        </p:txBody>
      </p:sp>
      <p:sp>
        <p:nvSpPr>
          <p:cNvPr id="173" name="Google Shape;173;p10"/>
          <p:cNvSpPr/>
          <p:nvPr/>
        </p:nvSpPr>
        <p:spPr>
          <a:xfrm>
            <a:off x="3302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MÉTHODOLOGIE</a:t>
            </a:r>
            <a:endParaRPr b="0" i="0" sz="1200" u="none" cap="none" strike="noStrike"/>
          </a:p>
        </p:txBody>
      </p:sp>
      <p:sp>
        <p:nvSpPr>
          <p:cNvPr id="174" name="Google Shape;174;p10"/>
          <p:cNvSpPr/>
          <p:nvPr/>
        </p:nvSpPr>
        <p:spPr>
          <a:xfrm>
            <a:off x="6350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ANALYSE</a:t>
            </a:r>
            <a:endParaRPr b="0" i="0" sz="1200" u="none" cap="none" strike="noStrike"/>
          </a:p>
        </p:txBody>
      </p:sp>
      <p:sp>
        <p:nvSpPr>
          <p:cNvPr id="175" name="Google Shape;175;p10"/>
          <p:cNvSpPr/>
          <p:nvPr/>
        </p:nvSpPr>
        <p:spPr>
          <a:xfrm>
            <a:off x="9398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MODÉLISATION</a:t>
            </a:r>
            <a:endParaRPr b="0" i="0" sz="1200" u="none" cap="none" strike="noStrike"/>
          </a:p>
        </p:txBody>
      </p:sp>
      <p:sp>
        <p:nvSpPr>
          <p:cNvPr id="176" name="Google Shape;176;p10"/>
          <p:cNvSpPr/>
          <p:nvPr/>
        </p:nvSpPr>
        <p:spPr>
          <a:xfrm>
            <a:off x="12446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DÉPLOIEMENT</a:t>
            </a:r>
            <a:endParaRPr b="0" i="0" sz="1200" u="none" cap="none" strike="noStrike"/>
          </a:p>
        </p:txBody>
      </p:sp>
      <p:sp>
        <p:nvSpPr>
          <p:cNvPr id="177" name="Google Shape;177;p10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Statistiques Descriptives et Distributions</a:t>
            </a:r>
            <a:endParaRPr b="0" i="0" sz="2800" u="none" cap="none" strike="noStrike"/>
          </a:p>
        </p:txBody>
      </p:sp>
      <p:sp>
        <p:nvSpPr>
          <p:cNvPr id="178" name="Google Shape;178;p10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762000" y="1524000"/>
            <a:ext cx="3429000" cy="1397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762000" y="1651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1025</a:t>
            </a:r>
            <a:endParaRPr b="0" i="0" sz="3200" u="none" cap="none" strike="noStrike"/>
          </a:p>
        </p:txBody>
      </p:sp>
      <p:sp>
        <p:nvSpPr>
          <p:cNvPr id="181" name="Google Shape;181;p10"/>
          <p:cNvSpPr/>
          <p:nvPr/>
        </p:nvSpPr>
        <p:spPr>
          <a:xfrm>
            <a:off x="762000" y="22860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Patients initiaux</a:t>
            </a:r>
            <a:endParaRPr b="0" i="0" sz="1400" u="none" cap="none" strike="noStrike"/>
          </a:p>
        </p:txBody>
      </p:sp>
      <p:sp>
        <p:nvSpPr>
          <p:cNvPr id="182" name="Google Shape;182;p10"/>
          <p:cNvSpPr/>
          <p:nvPr/>
        </p:nvSpPr>
        <p:spPr>
          <a:xfrm>
            <a:off x="4445000" y="1524000"/>
            <a:ext cx="3429000" cy="1397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4445000" y="1651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302</a:t>
            </a:r>
            <a:endParaRPr b="0" i="0" sz="3200" u="none" cap="none" strike="noStrike"/>
          </a:p>
        </p:txBody>
      </p:sp>
      <p:sp>
        <p:nvSpPr>
          <p:cNvPr id="184" name="Google Shape;184;p10"/>
          <p:cNvSpPr/>
          <p:nvPr/>
        </p:nvSpPr>
        <p:spPr>
          <a:xfrm>
            <a:off x="4445000" y="22860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Patients après nettoyage</a:t>
            </a:r>
            <a:endParaRPr b="0" i="0" sz="1400" u="none" cap="none" strike="noStrike"/>
          </a:p>
        </p:txBody>
      </p:sp>
      <p:sp>
        <p:nvSpPr>
          <p:cNvPr id="185" name="Google Shape;185;p10"/>
          <p:cNvSpPr/>
          <p:nvPr/>
        </p:nvSpPr>
        <p:spPr>
          <a:xfrm>
            <a:off x="8128000" y="1524000"/>
            <a:ext cx="3429000" cy="1397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8128000" y="1651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3200" u="none" cap="none" strike="noStrike"/>
          </a:p>
        </p:txBody>
      </p:sp>
      <p:sp>
        <p:nvSpPr>
          <p:cNvPr id="187" name="Google Shape;187;p10"/>
          <p:cNvSpPr/>
          <p:nvPr/>
        </p:nvSpPr>
        <p:spPr>
          <a:xfrm>
            <a:off x="8128000" y="22860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Variables médicales</a:t>
            </a:r>
            <a:endParaRPr b="0" i="0" sz="1400" u="none" cap="none" strike="noStrike"/>
          </a:p>
        </p:txBody>
      </p:sp>
      <p:sp>
        <p:nvSpPr>
          <p:cNvPr id="188" name="Google Shape;188;p10"/>
          <p:cNvSpPr/>
          <p:nvPr/>
        </p:nvSpPr>
        <p:spPr>
          <a:xfrm>
            <a:off x="11811000" y="1524000"/>
            <a:ext cx="3683000" cy="1397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1811000" y="1651000"/>
            <a:ext cx="3683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723</a:t>
            </a:r>
            <a:endParaRPr b="0" i="0" sz="3200" u="none" cap="none" strike="noStrike"/>
          </a:p>
        </p:txBody>
      </p:sp>
      <p:sp>
        <p:nvSpPr>
          <p:cNvPr id="190" name="Google Shape;190;p10"/>
          <p:cNvSpPr/>
          <p:nvPr/>
        </p:nvSpPr>
        <p:spPr>
          <a:xfrm>
            <a:off x="11811000" y="2286000"/>
            <a:ext cx="3683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Doublons supprimés</a:t>
            </a:r>
            <a:endParaRPr b="0" i="0" sz="1400" u="none" cap="none" strike="noStrike"/>
          </a:p>
        </p:txBody>
      </p:sp>
      <p:sp>
        <p:nvSpPr>
          <p:cNvPr id="191" name="Google Shape;191;p10"/>
          <p:cNvSpPr/>
          <p:nvPr/>
        </p:nvSpPr>
        <p:spPr>
          <a:xfrm>
            <a:off x="762000" y="32385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Distribution de la variable cible</a:t>
            </a:r>
            <a:endParaRPr b="0" i="0" sz="2200" u="none" cap="none" strike="noStrike"/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683000"/>
            <a:ext cx="6096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>
            <a:off x="762000" y="7594600"/>
            <a:ext cx="609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Fig. 1 — Classes équilibrées : pas de rééquilibrage nécessaire</a:t>
            </a:r>
            <a:endParaRPr b="0" i="0" sz="1400" u="none" cap="none" strike="noStrike"/>
          </a:p>
        </p:txBody>
      </p:sp>
      <p:sp>
        <p:nvSpPr>
          <p:cNvPr id="194" name="Google Shape;194;p10"/>
          <p:cNvSpPr/>
          <p:nvPr/>
        </p:nvSpPr>
        <p:spPr>
          <a:xfrm>
            <a:off x="7239000" y="3238500"/>
            <a:ext cx="8255000" cy="46355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7556500" y="3429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Points clés de l'analyse</a:t>
            </a:r>
            <a:endParaRPr b="0" i="0" sz="2200" u="none" cap="none" strike="noStrike"/>
          </a:p>
        </p:txBody>
      </p:sp>
      <p:sp>
        <p:nvSpPr>
          <p:cNvPr id="196" name="Google Shape;196;p10"/>
          <p:cNvSpPr/>
          <p:nvPr/>
        </p:nvSpPr>
        <p:spPr>
          <a:xfrm>
            <a:off x="7556500" y="3911600"/>
            <a:ext cx="7620000" cy="3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Types de données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13 variables entières, 1 variable flottante (oldpeak)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Valeurs manquantes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Aucune — dataset propre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Tranche d'âge principale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48–61 ans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Classes équilibrées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48.7% / 51.3%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Variables les plus discriminantes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Type de douleur thoracique (cp)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Fréquence cardiaque maximale (thalach)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Dépression ST induite (oldpeak)</a:t>
            </a:r>
            <a:endParaRPr b="0" i="0" sz="1600" u="none" cap="none" strike="noStrike"/>
          </a:p>
        </p:txBody>
      </p:sp>
      <p:sp>
        <p:nvSpPr>
          <p:cNvPr id="197" name="Google Shape;197;p10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6350000" y="76200"/>
            <a:ext cx="2794000" cy="304800"/>
          </a:xfrm>
          <a:prstGeom prst="roundRect">
            <a:avLst>
              <a:gd fmla="val 8000" name="adj"/>
            </a:avLst>
          </a:prstGeom>
          <a:solidFill>
            <a:srgbClr val="FFFFFF">
              <a:alpha val="13333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254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</a:t>
            </a:r>
            <a:endParaRPr b="0" i="0" sz="1200" u="none" cap="none" strike="noStrike"/>
          </a:p>
        </p:txBody>
      </p:sp>
      <p:sp>
        <p:nvSpPr>
          <p:cNvPr id="206" name="Google Shape;206;p11"/>
          <p:cNvSpPr/>
          <p:nvPr/>
        </p:nvSpPr>
        <p:spPr>
          <a:xfrm>
            <a:off x="3302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MÉTHODOLOGIE</a:t>
            </a:r>
            <a:endParaRPr b="0" i="0" sz="1200" u="none" cap="none" strike="noStrike"/>
          </a:p>
        </p:txBody>
      </p:sp>
      <p:sp>
        <p:nvSpPr>
          <p:cNvPr id="207" name="Google Shape;207;p11"/>
          <p:cNvSpPr/>
          <p:nvPr/>
        </p:nvSpPr>
        <p:spPr>
          <a:xfrm>
            <a:off x="6350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ANALYSE</a:t>
            </a:r>
            <a:endParaRPr b="0" i="0" sz="1200" u="none" cap="none" strike="noStrike"/>
          </a:p>
        </p:txBody>
      </p:sp>
      <p:sp>
        <p:nvSpPr>
          <p:cNvPr id="208" name="Google Shape;208;p11"/>
          <p:cNvSpPr/>
          <p:nvPr/>
        </p:nvSpPr>
        <p:spPr>
          <a:xfrm>
            <a:off x="9398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MODÉLISATION</a:t>
            </a:r>
            <a:endParaRPr b="0" i="0" sz="1200" u="none" cap="none" strike="noStrike"/>
          </a:p>
        </p:txBody>
      </p:sp>
      <p:sp>
        <p:nvSpPr>
          <p:cNvPr id="209" name="Google Shape;209;p11"/>
          <p:cNvSpPr/>
          <p:nvPr/>
        </p:nvSpPr>
        <p:spPr>
          <a:xfrm>
            <a:off x="12446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DÉPLOIEMENT</a:t>
            </a:r>
            <a:endParaRPr b="0" i="0" sz="1200" u="none" cap="none" strike="noStrike"/>
          </a:p>
        </p:txBody>
      </p:sp>
      <p:sp>
        <p:nvSpPr>
          <p:cNvPr id="210" name="Google Shape;210;p11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Visualisations Clés et Insights</a:t>
            </a:r>
            <a:endParaRPr b="0" i="0" sz="2800" u="none" cap="none" strike="noStrike"/>
          </a:p>
        </p:txBody>
      </p:sp>
      <p:sp>
        <p:nvSpPr>
          <p:cNvPr id="211" name="Google Shape;211;p11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762000" y="14986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Distribution de l'âge</a:t>
            </a:r>
            <a:endParaRPr b="0" i="0" sz="1600" u="none" cap="none" strike="noStrike"/>
          </a:p>
        </p:txBody>
      </p:sp>
      <p:pic>
        <p:nvPicPr>
          <p:cNvPr id="213" name="Google Shape;2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79600"/>
            <a:ext cx="4572000" cy="29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/>
          <p:nvPr/>
        </p:nvSpPr>
        <p:spPr>
          <a:xfrm>
            <a:off x="5715000" y="1498600"/>
            <a:ext cx="4826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 de douleur thoracique (cp)</a:t>
            </a:r>
            <a:endParaRPr b="0" i="0" sz="1600" u="none" cap="none" strike="noStrike"/>
          </a:p>
        </p:txBody>
      </p:sp>
      <p:pic>
        <p:nvPicPr>
          <p:cNvPr id="215" name="Google Shape;2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879600"/>
            <a:ext cx="4826000" cy="29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10922000" y="1498600"/>
            <a:ext cx="4572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Fréquence cardiaque max</a:t>
            </a:r>
            <a:endParaRPr b="0" i="0" sz="1600" u="none" cap="none" strike="noStrike"/>
          </a:p>
        </p:txBody>
      </p:sp>
      <p:pic>
        <p:nvPicPr>
          <p:cNvPr id="217" name="Google Shape;2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22000" y="1879600"/>
            <a:ext cx="4572000" cy="29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/>
          <p:nvPr/>
        </p:nvSpPr>
        <p:spPr>
          <a:xfrm>
            <a:off x="762000" y="5080000"/>
            <a:ext cx="14732000" cy="29210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1079500" y="52705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Insights Principaux</a:t>
            </a:r>
            <a:endParaRPr b="0" i="0" sz="2200" u="none" cap="none" strike="noStrike"/>
          </a:p>
        </p:txBody>
      </p:sp>
      <p:sp>
        <p:nvSpPr>
          <p:cNvPr id="220" name="Google Shape;220;p11"/>
          <p:cNvSpPr/>
          <p:nvPr/>
        </p:nvSpPr>
        <p:spPr>
          <a:xfrm>
            <a:off x="1079500" y="58420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1524000" y="57785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 de douleur thoracique (cp)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variable la plus discriminante. Les patients asymptomatiques (cp=3) présentent un risque élevé.</a:t>
            </a:r>
            <a:endParaRPr b="0" i="0" sz="1600" u="none" cap="none" strike="noStrike"/>
          </a:p>
        </p:txBody>
      </p:sp>
      <p:sp>
        <p:nvSpPr>
          <p:cNvPr id="222" name="Google Shape;222;p11"/>
          <p:cNvSpPr/>
          <p:nvPr/>
        </p:nvSpPr>
        <p:spPr>
          <a:xfrm>
            <a:off x="1079500" y="6667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1524000" y="66040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Fréquence cardiaque max (thalach)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diffère significativement entre les classes. Valeurs plus basses chez les patients malades.</a:t>
            </a:r>
            <a:endParaRPr b="0" i="0" sz="1600" u="none" cap="none" strike="noStrike"/>
          </a:p>
        </p:txBody>
      </p:sp>
      <p:sp>
        <p:nvSpPr>
          <p:cNvPr id="224" name="Google Shape;224;p11"/>
          <p:cNvSpPr/>
          <p:nvPr/>
        </p:nvSpPr>
        <p:spPr>
          <a:xfrm>
            <a:off x="8128000" y="58420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8572500" y="57785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Dépression ST (oldpeak)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corrélation forte avec la cible. Indicateur clé d'anomalie cardiaque lors de l'effort.</a:t>
            </a:r>
            <a:endParaRPr b="0" i="0" sz="1600" u="none" cap="none" strike="noStrike"/>
          </a:p>
        </p:txBody>
      </p:sp>
      <p:sp>
        <p:nvSpPr>
          <p:cNvPr id="226" name="Google Shape;226;p11"/>
          <p:cNvSpPr/>
          <p:nvPr/>
        </p:nvSpPr>
        <p:spPr>
          <a:xfrm>
            <a:off x="8128000" y="6667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8572500" y="66040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Âge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tranche principale 48-61 ans. Les patients plus âgés tendent à avoir un risque plus élevé.</a:t>
            </a:r>
            <a:endParaRPr b="0" i="0" sz="1600" u="none" cap="none" strike="noStrike"/>
          </a:p>
        </p:txBody>
      </p:sp>
      <p:sp>
        <p:nvSpPr>
          <p:cNvPr id="228" name="Google Shape;228;p11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dmdkpifj6ckw/mnt/agents/output/heart_disease_ml/images/2_Sky_Blue_Color_Ekg_Heart_Line_2336565039.png" id="234" name="Google Shape;234;p12"/>
          <p:cNvPicPr preferRelativeResize="0"/>
          <p:nvPr/>
        </p:nvPicPr>
        <p:blipFill rotWithShape="1">
          <a:blip r:embed="rId3">
            <a:alphaModFix/>
          </a:blip>
          <a:srcRect b="3594" l="0" r="0" t="3594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1A1A1E">
                  <a:alpha val="80000"/>
                </a:srgbClr>
              </a:gs>
              <a:gs pos="60000">
                <a:srgbClr val="1A1A1E">
                  <a:alpha val="67058"/>
                </a:srgbClr>
              </a:gs>
              <a:gs pos="100000">
                <a:srgbClr val="1A1A1E">
                  <a:alpha val="40000"/>
                </a:srgbClr>
              </a:gs>
            </a:gsLst>
            <a:lin ang="0" scaled="0"/>
          </a:gra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9600" u="none" cap="none" strike="noStrike"/>
          </a:p>
        </p:txBody>
      </p:sp>
      <p:sp>
        <p:nvSpPr>
          <p:cNvPr id="237" name="Google Shape;237;p12"/>
          <p:cNvSpPr/>
          <p:nvPr/>
        </p:nvSpPr>
        <p:spPr>
          <a:xfrm>
            <a:off x="762000" y="3810000"/>
            <a:ext cx="1016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762000" y="4064000"/>
            <a:ext cx="889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Modélisation &amp; Résultats</a:t>
            </a:r>
            <a:endParaRPr b="0" i="0" sz="4000" u="none" cap="none" strike="noStrike"/>
          </a:p>
        </p:txBody>
      </p:sp>
      <p:sp>
        <p:nvSpPr>
          <p:cNvPr id="239" name="Google Shape;239;p12"/>
          <p:cNvSpPr/>
          <p:nvPr/>
        </p:nvSpPr>
        <p:spPr>
          <a:xfrm>
            <a:off x="762000" y="4953000"/>
            <a:ext cx="889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Préparation des données, entraînement des modèles et évaluation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9398000" y="76200"/>
            <a:ext cx="2794000" cy="304800"/>
          </a:xfrm>
          <a:prstGeom prst="roundRect">
            <a:avLst>
              <a:gd fmla="val 8000" name="adj"/>
            </a:avLst>
          </a:prstGeom>
          <a:solidFill>
            <a:srgbClr val="FFFFFF">
              <a:alpha val="13333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254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</a:t>
            </a:r>
            <a:endParaRPr b="0" i="0" sz="1200" u="none" cap="none" strike="noStrike"/>
          </a:p>
        </p:txBody>
      </p:sp>
      <p:sp>
        <p:nvSpPr>
          <p:cNvPr id="248" name="Google Shape;248;p13"/>
          <p:cNvSpPr/>
          <p:nvPr/>
        </p:nvSpPr>
        <p:spPr>
          <a:xfrm>
            <a:off x="3302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MÉTHODOLOGIE</a:t>
            </a:r>
            <a:endParaRPr b="0" i="0" sz="1200" u="none" cap="none" strike="noStrike"/>
          </a:p>
        </p:txBody>
      </p:sp>
      <p:sp>
        <p:nvSpPr>
          <p:cNvPr id="249" name="Google Shape;249;p13"/>
          <p:cNvSpPr/>
          <p:nvPr/>
        </p:nvSpPr>
        <p:spPr>
          <a:xfrm>
            <a:off x="6350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ANALYSE</a:t>
            </a:r>
            <a:endParaRPr b="0" i="0" sz="1200" u="none" cap="none" strike="noStrike"/>
          </a:p>
        </p:txBody>
      </p:sp>
      <p:sp>
        <p:nvSpPr>
          <p:cNvPr id="250" name="Google Shape;250;p13"/>
          <p:cNvSpPr/>
          <p:nvPr/>
        </p:nvSpPr>
        <p:spPr>
          <a:xfrm>
            <a:off x="9398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MODÉLISATION</a:t>
            </a:r>
            <a:endParaRPr b="0" i="0" sz="1200" u="none" cap="none" strike="noStrike"/>
          </a:p>
        </p:txBody>
      </p:sp>
      <p:sp>
        <p:nvSpPr>
          <p:cNvPr id="251" name="Google Shape;251;p13"/>
          <p:cNvSpPr/>
          <p:nvPr/>
        </p:nvSpPr>
        <p:spPr>
          <a:xfrm>
            <a:off x="12446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DÉPLOIEMENT</a:t>
            </a:r>
            <a:endParaRPr b="0" i="0" sz="1200" u="none" cap="none" strike="noStrike"/>
          </a:p>
        </p:txBody>
      </p:sp>
      <p:sp>
        <p:nvSpPr>
          <p:cNvPr id="252" name="Google Shape;252;p13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Préparation des Données et Modèles Testés</a:t>
            </a:r>
            <a:endParaRPr b="0" i="0" sz="2800" u="none" cap="none" strike="noStrike"/>
          </a:p>
        </p:txBody>
      </p:sp>
      <p:sp>
        <p:nvSpPr>
          <p:cNvPr id="253" name="Google Shape;253;p13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762000" y="1498600"/>
            <a:ext cx="4445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Pipeline de préparation</a:t>
            </a:r>
            <a:endParaRPr b="0" i="0" sz="2200" u="none" cap="none" strike="noStrike"/>
          </a:p>
        </p:txBody>
      </p:sp>
      <p:sp>
        <p:nvSpPr>
          <p:cNvPr id="255" name="Google Shape;255;p13"/>
          <p:cNvSpPr/>
          <p:nvPr/>
        </p:nvSpPr>
        <p:spPr>
          <a:xfrm>
            <a:off x="762000" y="1968500"/>
            <a:ext cx="3429000" cy="1079500"/>
          </a:xfrm>
          <a:prstGeom prst="roundRect">
            <a:avLst>
              <a:gd fmla="val 4000" name="adj"/>
            </a:avLst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952500" y="2095500"/>
            <a:ext cx="279400" cy="279400"/>
          </a:xfrm>
          <a:custGeom>
            <a:rect b="b" l="l" r="r" t="t"/>
            <a:pathLst>
              <a:path extrusionOk="0" h="279400" w="279400">
                <a:moveTo>
                  <a:pt x="274840" y="29795"/>
                </a:moveTo>
                <a:cubicBezTo>
                  <a:pt x="280904" y="22974"/>
                  <a:pt x="280904" y="11896"/>
                  <a:pt x="274840" y="5075"/>
                </a:cubicBezTo>
                <a:cubicBezTo>
                  <a:pt x="268777" y="-1746"/>
                  <a:pt x="258930" y="-1746"/>
                  <a:pt x="252867" y="5075"/>
                </a:cubicBezTo>
                <a:lnTo>
                  <a:pt x="159733" y="109850"/>
                </a:lnTo>
                <a:lnTo>
                  <a:pt x="142901" y="90914"/>
                </a:lnTo>
                <a:cubicBezTo>
                  <a:pt x="140864" y="88622"/>
                  <a:pt x="138051" y="87313"/>
                  <a:pt x="135140" y="87313"/>
                </a:cubicBezTo>
                <a:cubicBezTo>
                  <a:pt x="129077" y="87313"/>
                  <a:pt x="124178" y="92824"/>
                  <a:pt x="124178" y="99645"/>
                </a:cubicBezTo>
                <a:lnTo>
                  <a:pt x="124178" y="115525"/>
                </a:lnTo>
                <a:lnTo>
                  <a:pt x="176711" y="174625"/>
                </a:lnTo>
                <a:lnTo>
                  <a:pt x="190826" y="174625"/>
                </a:lnTo>
                <a:cubicBezTo>
                  <a:pt x="196890" y="174625"/>
                  <a:pt x="201789" y="169113"/>
                  <a:pt x="201789" y="162292"/>
                </a:cubicBezTo>
                <a:cubicBezTo>
                  <a:pt x="201789" y="159018"/>
                  <a:pt x="200625" y="155853"/>
                  <a:pt x="198587" y="153561"/>
                </a:cubicBezTo>
                <a:lnTo>
                  <a:pt x="181756" y="134625"/>
                </a:lnTo>
                <a:lnTo>
                  <a:pt x="274889" y="29850"/>
                </a:lnTo>
                <a:close/>
                <a:moveTo>
                  <a:pt x="165457" y="192851"/>
                </a:moveTo>
                <a:lnTo>
                  <a:pt x="107976" y="128186"/>
                </a:lnTo>
                <a:cubicBezTo>
                  <a:pt x="87264" y="126167"/>
                  <a:pt x="66649" y="134570"/>
                  <a:pt x="51805" y="151269"/>
                </a:cubicBezTo>
                <a:lnTo>
                  <a:pt x="47925" y="155635"/>
                </a:lnTo>
                <a:cubicBezTo>
                  <a:pt x="37108" y="167804"/>
                  <a:pt x="31044" y="184284"/>
                  <a:pt x="31044" y="201474"/>
                </a:cubicBezTo>
                <a:cubicBezTo>
                  <a:pt x="31044" y="205184"/>
                  <a:pt x="34488" y="207585"/>
                  <a:pt x="37447" y="205948"/>
                </a:cubicBezTo>
                <a:lnTo>
                  <a:pt x="62234" y="192033"/>
                </a:lnTo>
                <a:cubicBezTo>
                  <a:pt x="64660" y="190669"/>
                  <a:pt x="66843" y="194270"/>
                  <a:pt x="64854" y="196344"/>
                </a:cubicBezTo>
                <a:lnTo>
                  <a:pt x="3541" y="258336"/>
                </a:lnTo>
                <a:cubicBezTo>
                  <a:pt x="1310" y="260628"/>
                  <a:pt x="0" y="263902"/>
                  <a:pt x="0" y="267340"/>
                </a:cubicBezTo>
                <a:cubicBezTo>
                  <a:pt x="0" y="273998"/>
                  <a:pt x="4802" y="279400"/>
                  <a:pt x="10720" y="279400"/>
                </a:cubicBezTo>
                <a:lnTo>
                  <a:pt x="94783" y="279400"/>
                </a:lnTo>
                <a:cubicBezTo>
                  <a:pt x="113603" y="279400"/>
                  <a:pt x="131599" y="270996"/>
                  <a:pt x="144939" y="256044"/>
                </a:cubicBezTo>
                <a:cubicBezTo>
                  <a:pt x="159782" y="239345"/>
                  <a:pt x="167203" y="216153"/>
                  <a:pt x="165457" y="1928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1333500" y="2070100"/>
            <a:ext cx="2667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Nettoyage</a:t>
            </a:r>
            <a:endParaRPr b="0" i="0" sz="1400" u="none" cap="none" strike="noStrike"/>
          </a:p>
        </p:txBody>
      </p:sp>
      <p:sp>
        <p:nvSpPr>
          <p:cNvPr id="258" name="Google Shape;258;p13"/>
          <p:cNvSpPr/>
          <p:nvPr/>
        </p:nvSpPr>
        <p:spPr>
          <a:xfrm>
            <a:off x="952500" y="2476500"/>
            <a:ext cx="3048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723 doublons supprimés → 302 patients</a:t>
            </a:r>
            <a:endParaRPr b="0" i="0" sz="1200" u="none" cap="none" strike="noStrike"/>
          </a:p>
        </p:txBody>
      </p:sp>
      <p:cxnSp>
        <p:nvCxnSpPr>
          <p:cNvPr id="259" name="Google Shape;259;p13"/>
          <p:cNvCxnSpPr/>
          <p:nvPr/>
        </p:nvCxnSpPr>
        <p:spPr>
          <a:xfrm>
            <a:off x="4318000" y="2413000"/>
            <a:ext cx="317500" cy="0"/>
          </a:xfrm>
          <a:prstGeom prst="straightConnector1">
            <a:avLst/>
          </a:prstGeom>
          <a:noFill/>
          <a:ln cap="flat" cmpd="sng" w="25400">
            <a:solidFill>
              <a:srgbClr val="6B7B8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0" name="Google Shape;260;p13"/>
          <p:cNvSpPr/>
          <p:nvPr/>
        </p:nvSpPr>
        <p:spPr>
          <a:xfrm>
            <a:off x="4762500" y="1968500"/>
            <a:ext cx="3429000" cy="1079500"/>
          </a:xfrm>
          <a:prstGeom prst="roundRect">
            <a:avLst>
              <a:gd fmla="val 4000" name="adj"/>
            </a:avLst>
          </a:prstGeom>
          <a:solidFill>
            <a:srgbClr val="3D4F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4953000" y="20955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5334000" y="2070100"/>
            <a:ext cx="2667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Séparation X / y</a:t>
            </a:r>
            <a:endParaRPr b="0" i="0" sz="1400" u="none" cap="none" strike="noStrike"/>
          </a:p>
        </p:txBody>
      </p:sp>
      <p:sp>
        <p:nvSpPr>
          <p:cNvPr id="263" name="Google Shape;263;p13"/>
          <p:cNvSpPr/>
          <p:nvPr/>
        </p:nvSpPr>
        <p:spPr>
          <a:xfrm>
            <a:off x="4953000" y="2476500"/>
            <a:ext cx="3048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 features explicatives + target</a:t>
            </a:r>
            <a:endParaRPr b="0" i="0" sz="1200" u="none" cap="none" strike="noStrike"/>
          </a:p>
        </p:txBody>
      </p:sp>
      <p:cxnSp>
        <p:nvCxnSpPr>
          <p:cNvPr id="264" name="Google Shape;264;p13"/>
          <p:cNvCxnSpPr/>
          <p:nvPr/>
        </p:nvCxnSpPr>
        <p:spPr>
          <a:xfrm>
            <a:off x="8318500" y="2413000"/>
            <a:ext cx="317500" cy="0"/>
          </a:xfrm>
          <a:prstGeom prst="straightConnector1">
            <a:avLst/>
          </a:prstGeom>
          <a:noFill/>
          <a:ln cap="flat" cmpd="sng" w="25400">
            <a:solidFill>
              <a:srgbClr val="6B7B8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5" name="Google Shape;265;p13"/>
          <p:cNvSpPr/>
          <p:nvPr/>
        </p:nvSpPr>
        <p:spPr>
          <a:xfrm>
            <a:off x="8763000" y="1968500"/>
            <a:ext cx="3429000" cy="1079500"/>
          </a:xfrm>
          <a:prstGeom prst="roundRect">
            <a:avLst>
              <a:gd fmla="val 4000" name="adj"/>
            </a:avLst>
          </a:prstGeom>
          <a:solidFill>
            <a:srgbClr val="4E62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8953500" y="2095500"/>
            <a:ext cx="279400" cy="279400"/>
          </a:xfrm>
          <a:custGeom>
            <a:rect b="b" l="l" r="r" t="t"/>
            <a:pathLst>
              <a:path extrusionOk="0" h="279400" w="279400">
                <a:moveTo>
                  <a:pt x="220355" y="18772"/>
                </a:moveTo>
                <a:cubicBezTo>
                  <a:pt x="226903" y="16044"/>
                  <a:pt x="234379" y="17572"/>
                  <a:pt x="239400" y="22538"/>
                </a:cubicBezTo>
                <a:lnTo>
                  <a:pt x="274325" y="57463"/>
                </a:lnTo>
                <a:cubicBezTo>
                  <a:pt x="277599" y="60737"/>
                  <a:pt x="279455" y="65157"/>
                  <a:pt x="279455" y="69795"/>
                </a:cubicBezTo>
                <a:cubicBezTo>
                  <a:pt x="279455" y="74434"/>
                  <a:pt x="277599" y="78854"/>
                  <a:pt x="274325" y="82128"/>
                </a:cubicBezTo>
                <a:lnTo>
                  <a:pt x="239400" y="117053"/>
                </a:lnTo>
                <a:cubicBezTo>
                  <a:pt x="234379" y="122074"/>
                  <a:pt x="226903" y="123547"/>
                  <a:pt x="220355" y="120819"/>
                </a:cubicBezTo>
                <a:cubicBezTo>
                  <a:pt x="213806" y="118090"/>
                  <a:pt x="209550" y="111815"/>
                  <a:pt x="209550" y="104775"/>
                </a:cubicBezTo>
                <a:lnTo>
                  <a:pt x="209550" y="87313"/>
                </a:lnTo>
                <a:lnTo>
                  <a:pt x="192088" y="87313"/>
                </a:lnTo>
                <a:cubicBezTo>
                  <a:pt x="186576" y="87313"/>
                  <a:pt x="181392" y="89877"/>
                  <a:pt x="178118" y="94298"/>
                </a:cubicBezTo>
                <a:lnTo>
                  <a:pt x="160437" y="117872"/>
                </a:lnTo>
                <a:lnTo>
                  <a:pt x="138609" y="88786"/>
                </a:lnTo>
                <a:lnTo>
                  <a:pt x="150178" y="73342"/>
                </a:lnTo>
                <a:cubicBezTo>
                  <a:pt x="160055" y="60136"/>
                  <a:pt x="175607" y="52388"/>
                  <a:pt x="192088" y="52388"/>
                </a:cubicBezTo>
                <a:lnTo>
                  <a:pt x="209550" y="52388"/>
                </a:lnTo>
                <a:lnTo>
                  <a:pt x="209550" y="34925"/>
                </a:lnTo>
                <a:cubicBezTo>
                  <a:pt x="209550" y="27885"/>
                  <a:pt x="213806" y="21501"/>
                  <a:pt x="220355" y="18772"/>
                </a:cubicBezTo>
                <a:close/>
                <a:moveTo>
                  <a:pt x="84038" y="161528"/>
                </a:moveTo>
                <a:lnTo>
                  <a:pt x="105866" y="190614"/>
                </a:lnTo>
                <a:lnTo>
                  <a:pt x="94298" y="206058"/>
                </a:lnTo>
                <a:cubicBezTo>
                  <a:pt x="84420" y="219264"/>
                  <a:pt x="68868" y="227013"/>
                  <a:pt x="52388" y="227013"/>
                </a:cubicBezTo>
                <a:lnTo>
                  <a:pt x="17463" y="227013"/>
                </a:lnTo>
                <a:cubicBezTo>
                  <a:pt x="7804" y="227013"/>
                  <a:pt x="0" y="219209"/>
                  <a:pt x="0" y="209550"/>
                </a:cubicBezTo>
                <a:cubicBezTo>
                  <a:pt x="0" y="199891"/>
                  <a:pt x="7804" y="192088"/>
                  <a:pt x="17463" y="192088"/>
                </a:cubicBezTo>
                <a:lnTo>
                  <a:pt x="52388" y="192088"/>
                </a:lnTo>
                <a:cubicBezTo>
                  <a:pt x="57899" y="192088"/>
                  <a:pt x="63083" y="189523"/>
                  <a:pt x="66358" y="185103"/>
                </a:cubicBezTo>
                <a:lnTo>
                  <a:pt x="84038" y="161528"/>
                </a:lnTo>
                <a:close/>
                <a:moveTo>
                  <a:pt x="239345" y="256808"/>
                </a:moveTo>
                <a:cubicBezTo>
                  <a:pt x="234325" y="261828"/>
                  <a:pt x="226849" y="263302"/>
                  <a:pt x="220300" y="260573"/>
                </a:cubicBezTo>
                <a:cubicBezTo>
                  <a:pt x="213752" y="257845"/>
                  <a:pt x="209550" y="251515"/>
                  <a:pt x="209550" y="244475"/>
                </a:cubicBezTo>
                <a:lnTo>
                  <a:pt x="209550" y="227013"/>
                </a:lnTo>
                <a:lnTo>
                  <a:pt x="192088" y="227013"/>
                </a:lnTo>
                <a:cubicBezTo>
                  <a:pt x="175607" y="227013"/>
                  <a:pt x="160055" y="219264"/>
                  <a:pt x="150178" y="206058"/>
                </a:cubicBezTo>
                <a:lnTo>
                  <a:pt x="66358" y="94298"/>
                </a:lnTo>
                <a:cubicBezTo>
                  <a:pt x="63083" y="89877"/>
                  <a:pt x="57899" y="87313"/>
                  <a:pt x="52388" y="87313"/>
                </a:cubicBezTo>
                <a:lnTo>
                  <a:pt x="17463" y="87313"/>
                </a:lnTo>
                <a:cubicBezTo>
                  <a:pt x="7804" y="87313"/>
                  <a:pt x="0" y="79509"/>
                  <a:pt x="0" y="69850"/>
                </a:cubicBezTo>
                <a:cubicBezTo>
                  <a:pt x="0" y="60191"/>
                  <a:pt x="7804" y="52388"/>
                  <a:pt x="17463" y="52388"/>
                </a:cubicBezTo>
                <a:lnTo>
                  <a:pt x="52388" y="52388"/>
                </a:lnTo>
                <a:cubicBezTo>
                  <a:pt x="68868" y="52388"/>
                  <a:pt x="84420" y="60136"/>
                  <a:pt x="94298" y="73343"/>
                </a:cubicBezTo>
                <a:lnTo>
                  <a:pt x="178118" y="185103"/>
                </a:lnTo>
                <a:cubicBezTo>
                  <a:pt x="181392" y="189523"/>
                  <a:pt x="186576" y="192088"/>
                  <a:pt x="192088" y="192088"/>
                </a:cubicBezTo>
                <a:lnTo>
                  <a:pt x="209550" y="192088"/>
                </a:lnTo>
                <a:lnTo>
                  <a:pt x="209550" y="174625"/>
                </a:lnTo>
                <a:cubicBezTo>
                  <a:pt x="209550" y="167585"/>
                  <a:pt x="213806" y="161201"/>
                  <a:pt x="220355" y="158472"/>
                </a:cubicBezTo>
                <a:cubicBezTo>
                  <a:pt x="226903" y="155744"/>
                  <a:pt x="234379" y="157272"/>
                  <a:pt x="239400" y="162238"/>
                </a:cubicBezTo>
                <a:lnTo>
                  <a:pt x="274325" y="197163"/>
                </a:lnTo>
                <a:cubicBezTo>
                  <a:pt x="277599" y="200437"/>
                  <a:pt x="279455" y="204857"/>
                  <a:pt x="279455" y="209495"/>
                </a:cubicBezTo>
                <a:cubicBezTo>
                  <a:pt x="279455" y="214134"/>
                  <a:pt x="277599" y="218554"/>
                  <a:pt x="274325" y="221828"/>
                </a:cubicBezTo>
                <a:lnTo>
                  <a:pt x="239400" y="2567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9334500" y="2070100"/>
            <a:ext cx="2667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/ Test Split</a:t>
            </a:r>
            <a:endParaRPr b="0" i="0" sz="1400" u="none" cap="none" strike="noStrike"/>
          </a:p>
        </p:txBody>
      </p:sp>
      <p:sp>
        <p:nvSpPr>
          <p:cNvPr id="268" name="Google Shape;268;p13"/>
          <p:cNvSpPr/>
          <p:nvPr/>
        </p:nvSpPr>
        <p:spPr>
          <a:xfrm>
            <a:off x="8953500" y="2476500"/>
            <a:ext cx="3048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80/20 avec stratification</a:t>
            </a:r>
            <a:endParaRPr b="0" i="0" sz="1200" u="none" cap="none" strike="noStrike"/>
          </a:p>
        </p:txBody>
      </p:sp>
      <p:cxnSp>
        <p:nvCxnSpPr>
          <p:cNvPr id="269" name="Google Shape;269;p13"/>
          <p:cNvCxnSpPr/>
          <p:nvPr/>
        </p:nvCxnSpPr>
        <p:spPr>
          <a:xfrm>
            <a:off x="12319000" y="2413000"/>
            <a:ext cx="317500" cy="0"/>
          </a:xfrm>
          <a:prstGeom prst="straightConnector1">
            <a:avLst/>
          </a:prstGeom>
          <a:noFill/>
          <a:ln cap="flat" cmpd="sng" w="25400">
            <a:solidFill>
              <a:srgbClr val="6B7B8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0" name="Google Shape;270;p13"/>
          <p:cNvSpPr/>
          <p:nvPr/>
        </p:nvSpPr>
        <p:spPr>
          <a:xfrm>
            <a:off x="12763500" y="1968500"/>
            <a:ext cx="2730500" cy="1079500"/>
          </a:xfrm>
          <a:prstGeom prst="roundRect">
            <a:avLst>
              <a:gd fmla="val 4000" name="adj"/>
            </a:avLst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12954000" y="2095500"/>
            <a:ext cx="279400" cy="279400"/>
          </a:xfrm>
          <a:custGeom>
            <a:rect b="b" l="l" r="r" t="t"/>
            <a:pathLst>
              <a:path extrusionOk="0" h="279400" w="279400">
                <a:moveTo>
                  <a:pt x="167640" y="17463"/>
                </a:moveTo>
                <a:lnTo>
                  <a:pt x="223520" y="17463"/>
                </a:lnTo>
                <a:cubicBezTo>
                  <a:pt x="231247" y="17463"/>
                  <a:pt x="237490" y="25266"/>
                  <a:pt x="237490" y="34925"/>
                </a:cubicBezTo>
                <a:cubicBezTo>
                  <a:pt x="237490" y="44584"/>
                  <a:pt x="231247" y="52388"/>
                  <a:pt x="223520" y="52388"/>
                </a:cubicBezTo>
                <a:lnTo>
                  <a:pt x="173927" y="52388"/>
                </a:lnTo>
                <a:cubicBezTo>
                  <a:pt x="171656" y="66467"/>
                  <a:pt x="163929" y="78090"/>
                  <a:pt x="153670" y="83656"/>
                </a:cubicBezTo>
                <a:lnTo>
                  <a:pt x="153670" y="244475"/>
                </a:lnTo>
                <a:lnTo>
                  <a:pt x="223520" y="244475"/>
                </a:lnTo>
                <a:cubicBezTo>
                  <a:pt x="231247" y="244475"/>
                  <a:pt x="237490" y="252279"/>
                  <a:pt x="237490" y="261938"/>
                </a:cubicBezTo>
                <a:cubicBezTo>
                  <a:pt x="237490" y="271596"/>
                  <a:pt x="231247" y="279400"/>
                  <a:pt x="223520" y="279400"/>
                </a:cubicBezTo>
                <a:lnTo>
                  <a:pt x="55880" y="279400"/>
                </a:lnTo>
                <a:cubicBezTo>
                  <a:pt x="48153" y="279400"/>
                  <a:pt x="41910" y="271596"/>
                  <a:pt x="41910" y="261938"/>
                </a:cubicBezTo>
                <a:cubicBezTo>
                  <a:pt x="41910" y="252279"/>
                  <a:pt x="48153" y="244475"/>
                  <a:pt x="55880" y="244475"/>
                </a:cubicBezTo>
                <a:lnTo>
                  <a:pt x="125730" y="244475"/>
                </a:lnTo>
                <a:lnTo>
                  <a:pt x="125730" y="83656"/>
                </a:lnTo>
                <a:cubicBezTo>
                  <a:pt x="115471" y="78036"/>
                  <a:pt x="107744" y="66412"/>
                  <a:pt x="105474" y="52388"/>
                </a:cubicBezTo>
                <a:lnTo>
                  <a:pt x="55880" y="52388"/>
                </a:lnTo>
                <a:cubicBezTo>
                  <a:pt x="48153" y="52388"/>
                  <a:pt x="41910" y="44584"/>
                  <a:pt x="41910" y="34925"/>
                </a:cubicBezTo>
                <a:cubicBezTo>
                  <a:pt x="41910" y="25266"/>
                  <a:pt x="48153" y="17463"/>
                  <a:pt x="55880" y="17463"/>
                </a:cubicBezTo>
                <a:lnTo>
                  <a:pt x="111760" y="17463"/>
                </a:lnTo>
                <a:cubicBezTo>
                  <a:pt x="118134" y="6876"/>
                  <a:pt x="128262" y="0"/>
                  <a:pt x="139700" y="0"/>
                </a:cubicBezTo>
                <a:cubicBezTo>
                  <a:pt x="151138" y="0"/>
                  <a:pt x="161266" y="6876"/>
                  <a:pt x="167640" y="17463"/>
                </a:cubicBezTo>
                <a:close/>
                <a:moveTo>
                  <a:pt x="191913" y="174625"/>
                </a:moveTo>
                <a:lnTo>
                  <a:pt x="255127" y="174625"/>
                </a:lnTo>
                <a:lnTo>
                  <a:pt x="223520" y="106849"/>
                </a:lnTo>
                <a:lnTo>
                  <a:pt x="191913" y="174625"/>
                </a:lnTo>
                <a:close/>
                <a:moveTo>
                  <a:pt x="223520" y="227013"/>
                </a:moveTo>
                <a:cubicBezTo>
                  <a:pt x="196060" y="227013"/>
                  <a:pt x="173228" y="208459"/>
                  <a:pt x="168513" y="183957"/>
                </a:cubicBezTo>
                <a:cubicBezTo>
                  <a:pt x="167378" y="177954"/>
                  <a:pt x="168950" y="171787"/>
                  <a:pt x="171438" y="166439"/>
                </a:cubicBezTo>
                <a:lnTo>
                  <a:pt x="212999" y="77381"/>
                </a:lnTo>
                <a:cubicBezTo>
                  <a:pt x="215182" y="72688"/>
                  <a:pt x="219198" y="69850"/>
                  <a:pt x="223520" y="69850"/>
                </a:cubicBezTo>
                <a:cubicBezTo>
                  <a:pt x="227842" y="69850"/>
                  <a:pt x="231858" y="72742"/>
                  <a:pt x="234041" y="77381"/>
                </a:cubicBezTo>
                <a:lnTo>
                  <a:pt x="275602" y="166439"/>
                </a:lnTo>
                <a:cubicBezTo>
                  <a:pt x="278090" y="171787"/>
                  <a:pt x="279662" y="177954"/>
                  <a:pt x="278527" y="183957"/>
                </a:cubicBezTo>
                <a:cubicBezTo>
                  <a:pt x="273812" y="208404"/>
                  <a:pt x="250980" y="227013"/>
                  <a:pt x="223520" y="227013"/>
                </a:cubicBezTo>
                <a:close/>
                <a:moveTo>
                  <a:pt x="55356" y="106849"/>
                </a:moveTo>
                <a:lnTo>
                  <a:pt x="23749" y="174625"/>
                </a:lnTo>
                <a:lnTo>
                  <a:pt x="87007" y="174625"/>
                </a:lnTo>
                <a:lnTo>
                  <a:pt x="55356" y="106849"/>
                </a:lnTo>
                <a:close/>
                <a:moveTo>
                  <a:pt x="393" y="183957"/>
                </a:moveTo>
                <a:cubicBezTo>
                  <a:pt x="-742" y="177954"/>
                  <a:pt x="829" y="171787"/>
                  <a:pt x="3318" y="166439"/>
                </a:cubicBezTo>
                <a:lnTo>
                  <a:pt x="44879" y="77381"/>
                </a:lnTo>
                <a:cubicBezTo>
                  <a:pt x="47061" y="72688"/>
                  <a:pt x="51078" y="69850"/>
                  <a:pt x="55400" y="69850"/>
                </a:cubicBezTo>
                <a:cubicBezTo>
                  <a:pt x="59722" y="69850"/>
                  <a:pt x="63738" y="72742"/>
                  <a:pt x="65921" y="77381"/>
                </a:cubicBezTo>
                <a:lnTo>
                  <a:pt x="107482" y="166439"/>
                </a:lnTo>
                <a:cubicBezTo>
                  <a:pt x="109970" y="171787"/>
                  <a:pt x="111542" y="177954"/>
                  <a:pt x="110407" y="183957"/>
                </a:cubicBezTo>
                <a:cubicBezTo>
                  <a:pt x="105692" y="208404"/>
                  <a:pt x="82860" y="227013"/>
                  <a:pt x="55400" y="227013"/>
                </a:cubicBezTo>
                <a:cubicBezTo>
                  <a:pt x="27940" y="227013"/>
                  <a:pt x="5108" y="208459"/>
                  <a:pt x="393" y="1839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13335000" y="2070100"/>
            <a:ext cx="1968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StandardScaler</a:t>
            </a:r>
            <a:endParaRPr b="0" i="0" sz="1400" u="none" cap="none" strike="noStrike"/>
          </a:p>
        </p:txBody>
      </p:sp>
      <p:sp>
        <p:nvSpPr>
          <p:cNvPr id="273" name="Google Shape;273;p13"/>
          <p:cNvSpPr/>
          <p:nvPr/>
        </p:nvSpPr>
        <p:spPr>
          <a:xfrm>
            <a:off x="12954000" y="2476500"/>
            <a:ext cx="2349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Fit sur train, transform sur test</a:t>
            </a:r>
            <a:endParaRPr b="0" i="0" sz="1200" u="none" cap="none" strike="noStrike"/>
          </a:p>
        </p:txBody>
      </p:sp>
      <p:sp>
        <p:nvSpPr>
          <p:cNvPr id="274" name="Google Shape;274;p13"/>
          <p:cNvSpPr/>
          <p:nvPr/>
        </p:nvSpPr>
        <p:spPr>
          <a:xfrm>
            <a:off x="762000" y="3403600"/>
            <a:ext cx="4445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Modèles de Classification</a:t>
            </a:r>
            <a:endParaRPr b="0" i="0" sz="2200" u="none" cap="none" strike="noStrike"/>
          </a:p>
        </p:txBody>
      </p:sp>
      <p:sp>
        <p:nvSpPr>
          <p:cNvPr id="275" name="Google Shape;275;p13"/>
          <p:cNvSpPr/>
          <p:nvPr/>
        </p:nvSpPr>
        <p:spPr>
          <a:xfrm>
            <a:off x="762000" y="3911600"/>
            <a:ext cx="7175500" cy="1651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1016000" y="4064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1498600" y="40640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Logistic Regression</a:t>
            </a:r>
            <a:endParaRPr b="0" i="0" sz="1800" u="none" cap="none" strike="noStrike"/>
          </a:p>
        </p:txBody>
      </p:sp>
      <p:sp>
        <p:nvSpPr>
          <p:cNvPr id="278" name="Google Shape;278;p13"/>
          <p:cNvSpPr/>
          <p:nvPr/>
        </p:nvSpPr>
        <p:spPr>
          <a:xfrm>
            <a:off x="1016000" y="4508500"/>
            <a:ext cx="66675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Modèle linéaire simple et interprétable. Fonction sigmoïde pour la probabilité. Baseline pour la classification binaire.</a:t>
            </a:r>
            <a:endParaRPr b="0" i="0" sz="1400" u="none" cap="none" strike="noStrike"/>
          </a:p>
        </p:txBody>
      </p:sp>
      <p:sp>
        <p:nvSpPr>
          <p:cNvPr id="279" name="Google Shape;279;p13"/>
          <p:cNvSpPr/>
          <p:nvPr/>
        </p:nvSpPr>
        <p:spPr>
          <a:xfrm>
            <a:off x="8318500" y="3911600"/>
            <a:ext cx="7175500" cy="1651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8572500" y="4064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-22225"/>
                </a:moveTo>
                <a:cubicBezTo>
                  <a:pt x="183356" y="-22225"/>
                  <a:pt x="188674" y="-20072"/>
                  <a:pt x="192326" y="-16321"/>
                </a:cubicBezTo>
                <a:lnTo>
                  <a:pt x="300276" y="94804"/>
                </a:lnTo>
                <a:cubicBezTo>
                  <a:pt x="305118" y="99735"/>
                  <a:pt x="306149" y="106680"/>
                  <a:pt x="303054" y="112584"/>
                </a:cubicBezTo>
                <a:cubicBezTo>
                  <a:pt x="299958" y="118487"/>
                  <a:pt x="293211" y="122238"/>
                  <a:pt x="285750" y="122238"/>
                </a:cubicBezTo>
                <a:lnTo>
                  <a:pt x="265986" y="122238"/>
                </a:lnTo>
                <a:lnTo>
                  <a:pt x="325676" y="183704"/>
                </a:lnTo>
                <a:cubicBezTo>
                  <a:pt x="330518" y="188635"/>
                  <a:pt x="331549" y="195580"/>
                  <a:pt x="328454" y="201484"/>
                </a:cubicBezTo>
                <a:cubicBezTo>
                  <a:pt x="325358" y="207387"/>
                  <a:pt x="318611" y="211138"/>
                  <a:pt x="311150" y="211138"/>
                </a:cubicBezTo>
                <a:lnTo>
                  <a:pt x="280591" y="211138"/>
                </a:lnTo>
                <a:lnTo>
                  <a:pt x="351076" y="283716"/>
                </a:lnTo>
                <a:cubicBezTo>
                  <a:pt x="355918" y="288647"/>
                  <a:pt x="356949" y="295593"/>
                  <a:pt x="353854" y="301496"/>
                </a:cubicBezTo>
                <a:cubicBezTo>
                  <a:pt x="350758" y="307400"/>
                  <a:pt x="344011" y="311150"/>
                  <a:pt x="336550" y="311150"/>
                </a:cubicBezTo>
                <a:lnTo>
                  <a:pt x="203200" y="311150"/>
                </a:lnTo>
                <a:lnTo>
                  <a:pt x="203200" y="355600"/>
                </a:lnTo>
                <a:cubicBezTo>
                  <a:pt x="203200" y="367893"/>
                  <a:pt x="191849" y="377825"/>
                  <a:pt x="177800" y="377825"/>
                </a:cubicBezTo>
                <a:cubicBezTo>
                  <a:pt x="163751" y="377825"/>
                  <a:pt x="152400" y="367893"/>
                  <a:pt x="152400" y="355600"/>
                </a:cubicBezTo>
                <a:lnTo>
                  <a:pt x="152400" y="311150"/>
                </a:lnTo>
                <a:lnTo>
                  <a:pt x="19050" y="311150"/>
                </a:lnTo>
                <a:cubicBezTo>
                  <a:pt x="11589" y="311150"/>
                  <a:pt x="4842" y="307400"/>
                  <a:pt x="1746" y="301496"/>
                </a:cubicBezTo>
                <a:cubicBezTo>
                  <a:pt x="-1349" y="295593"/>
                  <a:pt x="-318" y="288647"/>
                  <a:pt x="4524" y="283716"/>
                </a:cubicBezTo>
                <a:lnTo>
                  <a:pt x="75009" y="211138"/>
                </a:lnTo>
                <a:lnTo>
                  <a:pt x="44450" y="211138"/>
                </a:lnTo>
                <a:cubicBezTo>
                  <a:pt x="36989" y="211138"/>
                  <a:pt x="30242" y="207387"/>
                  <a:pt x="27146" y="201484"/>
                </a:cubicBezTo>
                <a:cubicBezTo>
                  <a:pt x="24051" y="195580"/>
                  <a:pt x="25083" y="188635"/>
                  <a:pt x="29924" y="183704"/>
                </a:cubicBezTo>
                <a:lnTo>
                  <a:pt x="89614" y="122238"/>
                </a:lnTo>
                <a:lnTo>
                  <a:pt x="69850" y="122238"/>
                </a:lnTo>
                <a:cubicBezTo>
                  <a:pt x="62389" y="122238"/>
                  <a:pt x="55642" y="118487"/>
                  <a:pt x="52546" y="112584"/>
                </a:cubicBezTo>
                <a:cubicBezTo>
                  <a:pt x="49451" y="106680"/>
                  <a:pt x="50483" y="99735"/>
                  <a:pt x="55324" y="94804"/>
                </a:cubicBezTo>
                <a:lnTo>
                  <a:pt x="163274" y="-16321"/>
                </a:lnTo>
                <a:cubicBezTo>
                  <a:pt x="166926" y="-20072"/>
                  <a:pt x="172244" y="-22225"/>
                  <a:pt x="177800" y="-22225"/>
                </a:cubicBezTo>
                <a:close/>
              </a:path>
            </a:pathLst>
          </a:cu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9055100" y="40640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Forest</a:t>
            </a:r>
            <a:endParaRPr b="0" i="0" sz="1800" u="none" cap="none" strike="noStrike"/>
          </a:p>
        </p:txBody>
      </p:sp>
      <p:sp>
        <p:nvSpPr>
          <p:cNvPr id="282" name="Google Shape;282;p13"/>
          <p:cNvSpPr/>
          <p:nvPr/>
        </p:nvSpPr>
        <p:spPr>
          <a:xfrm>
            <a:off x="8572500" y="4508500"/>
            <a:ext cx="66675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Ensemble de 100 arbres de décision. Robuste et capable de capturer des relations non linéaires. Vote majoritaire.</a:t>
            </a:r>
            <a:endParaRPr b="0" i="0" sz="1400" u="none" cap="none" strike="noStrike"/>
          </a:p>
        </p:txBody>
      </p:sp>
      <p:sp>
        <p:nvSpPr>
          <p:cNvPr id="283" name="Google Shape;283;p13"/>
          <p:cNvSpPr/>
          <p:nvPr/>
        </p:nvSpPr>
        <p:spPr>
          <a:xfrm>
            <a:off x="762000" y="5816600"/>
            <a:ext cx="7175500" cy="1651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1016000" y="5969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1498600" y="59690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K-Nearest Neighbors</a:t>
            </a:r>
            <a:endParaRPr b="0" i="0" sz="1800" u="none" cap="none" strike="noStrike"/>
          </a:p>
        </p:txBody>
      </p:sp>
      <p:sp>
        <p:nvSpPr>
          <p:cNvPr id="286" name="Google Shape;286;p13"/>
          <p:cNvSpPr/>
          <p:nvPr/>
        </p:nvSpPr>
        <p:spPr>
          <a:xfrm>
            <a:off x="1016000" y="6413500"/>
            <a:ext cx="66675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Basé sur la proximité (K=5 voisins). Modèle simple et intuitif. Sensible à l'échelle des variables.</a:t>
            </a:r>
            <a:endParaRPr b="0" i="0" sz="1400" u="none" cap="none" strike="noStrike"/>
          </a:p>
        </p:txBody>
      </p:sp>
      <p:sp>
        <p:nvSpPr>
          <p:cNvPr id="287" name="Google Shape;287;p13"/>
          <p:cNvSpPr/>
          <p:nvPr/>
        </p:nvSpPr>
        <p:spPr>
          <a:xfrm>
            <a:off x="8318500" y="5816600"/>
            <a:ext cx="7175500" cy="1651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8572500" y="5969000"/>
            <a:ext cx="355600" cy="355600"/>
          </a:xfrm>
          <a:prstGeom prst="ellipse">
            <a:avLst/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9055100" y="59690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Vector Machine</a:t>
            </a:r>
            <a:endParaRPr b="0" i="0" sz="1800" u="none" cap="none" strike="noStrike"/>
          </a:p>
        </p:txBody>
      </p:sp>
      <p:sp>
        <p:nvSpPr>
          <p:cNvPr id="290" name="Google Shape;290;p13"/>
          <p:cNvSpPr/>
          <p:nvPr/>
        </p:nvSpPr>
        <p:spPr>
          <a:xfrm>
            <a:off x="8572500" y="6413500"/>
            <a:ext cx="66675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Cherche l'hyperplan optimal. Noyau RBF pour les relations non linéaires. Maximise la marge entre classes.</a:t>
            </a:r>
            <a:endParaRPr b="0" i="0" sz="1400" u="none" cap="none" strike="noStrike"/>
          </a:p>
        </p:txBody>
      </p:sp>
      <p:sp>
        <p:nvSpPr>
          <p:cNvPr id="291" name="Google Shape;291;p13"/>
          <p:cNvSpPr/>
          <p:nvPr/>
        </p:nvSpPr>
        <p:spPr>
          <a:xfrm>
            <a:off x="762000" y="7747000"/>
            <a:ext cx="14732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state = 42 pour la reproductibilité — Hyperparamètres de base utilisés</a:t>
            </a:r>
            <a:endParaRPr b="0" i="0" sz="1400" u="none" cap="none" strike="noStrike"/>
          </a:p>
        </p:txBody>
      </p:sp>
      <p:sp>
        <p:nvSpPr>
          <p:cNvPr id="292" name="Google Shape;292;p13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9398000" y="76200"/>
            <a:ext cx="2794000" cy="304800"/>
          </a:xfrm>
          <a:prstGeom prst="roundRect">
            <a:avLst>
              <a:gd fmla="val 8000" name="adj"/>
            </a:avLst>
          </a:prstGeom>
          <a:solidFill>
            <a:srgbClr val="FFFFFF">
              <a:alpha val="13333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254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</a:t>
            </a:r>
            <a:endParaRPr b="0" i="0" sz="1200" u="none" cap="none" strike="noStrike"/>
          </a:p>
        </p:txBody>
      </p:sp>
      <p:sp>
        <p:nvSpPr>
          <p:cNvPr id="301" name="Google Shape;301;p14"/>
          <p:cNvSpPr/>
          <p:nvPr/>
        </p:nvSpPr>
        <p:spPr>
          <a:xfrm>
            <a:off x="3302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MÉTHODOLOGIE</a:t>
            </a:r>
            <a:endParaRPr b="0" i="0" sz="1200" u="none" cap="none" strike="noStrike"/>
          </a:p>
        </p:txBody>
      </p:sp>
      <p:sp>
        <p:nvSpPr>
          <p:cNvPr id="302" name="Google Shape;302;p14"/>
          <p:cNvSpPr/>
          <p:nvPr/>
        </p:nvSpPr>
        <p:spPr>
          <a:xfrm>
            <a:off x="6350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ANALYSE</a:t>
            </a:r>
            <a:endParaRPr b="0" i="0" sz="1200" u="none" cap="none" strike="noStrike"/>
          </a:p>
        </p:txBody>
      </p:sp>
      <p:sp>
        <p:nvSpPr>
          <p:cNvPr id="303" name="Google Shape;303;p14"/>
          <p:cNvSpPr/>
          <p:nvPr/>
        </p:nvSpPr>
        <p:spPr>
          <a:xfrm>
            <a:off x="9398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MODÉLISATION</a:t>
            </a:r>
            <a:endParaRPr b="0" i="0" sz="1200" u="none" cap="none" strike="noStrike"/>
          </a:p>
        </p:txBody>
      </p:sp>
      <p:sp>
        <p:nvSpPr>
          <p:cNvPr id="304" name="Google Shape;304;p14"/>
          <p:cNvSpPr/>
          <p:nvPr/>
        </p:nvSpPr>
        <p:spPr>
          <a:xfrm>
            <a:off x="12446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DÉPLOIEMENT</a:t>
            </a:r>
            <a:endParaRPr b="0" i="0" sz="1200" u="none" cap="none" strike="noStrike"/>
          </a:p>
        </p:txBody>
      </p:sp>
      <p:sp>
        <p:nvSpPr>
          <p:cNvPr id="305" name="Google Shape;305;p14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Comparatifs et Meilleur Modèle</a:t>
            </a:r>
            <a:endParaRPr b="0" i="0" sz="2800" u="none" cap="none" strike="noStrike"/>
          </a:p>
        </p:txBody>
      </p:sp>
      <p:sp>
        <p:nvSpPr>
          <p:cNvPr id="306" name="Google Shape;306;p14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762000" y="14224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Métrique principale : </a:t>
            </a:r>
            <a:r>
              <a:rPr b="1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F1-score</a:t>
            </a: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(équilibre Precision/Recall adapté au contexte médical)</a:t>
            </a:r>
            <a:endParaRPr b="0" i="0" sz="1400" u="none" cap="none" strike="noStrike"/>
          </a:p>
        </p:txBody>
      </p:sp>
      <p:graphicFrame>
        <p:nvGraphicFramePr>
          <p:cNvPr id="308" name="Google Shape;308;p14"/>
          <p:cNvGraphicFramePr/>
          <p:nvPr/>
        </p:nvGraphicFramePr>
        <p:xfrm>
          <a:off x="7620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{F5BF2007-1E79-43B9-85B4-26E9415AB803}</a:tableStyleId>
              </a:tblPr>
              <a:tblGrid>
                <a:gridCol w="2667000"/>
                <a:gridCol w="1714500"/>
                <a:gridCol w="1714500"/>
                <a:gridCol w="1714500"/>
                <a:gridCol w="1714500"/>
              </a:tblGrid>
              <a:tr h="496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Modèle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Accuracy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Precision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Recall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F1-score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E"/>
                    </a:solidFill>
                  </a:tcPr>
                </a:tc>
              </a:tr>
              <a:tr h="48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Logistic Regression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0.8033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0.8000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0.8485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C75B39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0.8235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Random Forest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0.7541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0.7647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0.7879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0.7761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</a:tr>
              <a:tr h="48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KNN (K=5)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0.7869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0.7778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0.8485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0.8116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SVM (RBF)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0.7705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0.7714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0.8182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0.7941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EF"/>
                    </a:solidFill>
                  </a:tcPr>
                </a:tc>
              </a:tr>
              <a:tr h="484875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1E1E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Table 2 — Performances sur le jeu de test (60 patients)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0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309" name="Google Shape;309;p14"/>
          <p:cNvSpPr/>
          <p:nvPr/>
        </p:nvSpPr>
        <p:spPr>
          <a:xfrm>
            <a:off x="10668000" y="1905000"/>
            <a:ext cx="4826000" cy="2921000"/>
          </a:xfrm>
          <a:prstGeom prst="roundRect">
            <a:avLst>
              <a:gd fmla="val 4000" name="adj"/>
            </a:avLst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10922000" y="20955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MEILLEUR MODÈLE</a:t>
            </a:r>
            <a:endParaRPr b="0" i="0" sz="1200" u="none" cap="none" strike="noStrike"/>
          </a:p>
        </p:txBody>
      </p:sp>
      <p:sp>
        <p:nvSpPr>
          <p:cNvPr id="311" name="Google Shape;311;p14"/>
          <p:cNvSpPr/>
          <p:nvPr/>
        </p:nvSpPr>
        <p:spPr>
          <a:xfrm>
            <a:off x="10922000" y="2476500"/>
            <a:ext cx="4318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Logistic Regression</a:t>
            </a:r>
            <a:endParaRPr b="0" i="0" sz="2200" u="none" cap="none" strike="noStrike"/>
          </a:p>
        </p:txBody>
      </p:sp>
      <p:sp>
        <p:nvSpPr>
          <p:cNvPr id="312" name="Google Shape;312;p14"/>
          <p:cNvSpPr/>
          <p:nvPr/>
        </p:nvSpPr>
        <p:spPr>
          <a:xfrm>
            <a:off x="10922000" y="3048000"/>
            <a:ext cx="4318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0.8235</a:t>
            </a:r>
            <a:endParaRPr b="0" i="0" sz="4200" u="none" cap="none" strike="noStrike"/>
          </a:p>
        </p:txBody>
      </p:sp>
      <p:sp>
        <p:nvSpPr>
          <p:cNvPr id="313" name="Google Shape;313;p14"/>
          <p:cNvSpPr/>
          <p:nvPr/>
        </p:nvSpPr>
        <p:spPr>
          <a:xfrm>
            <a:off x="10922000" y="37465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F1-score</a:t>
            </a:r>
            <a:endParaRPr b="0" i="0" sz="1400" u="none" cap="none" strike="noStrike"/>
          </a:p>
        </p:txBody>
      </p:sp>
      <p:sp>
        <p:nvSpPr>
          <p:cNvPr id="314" name="Google Shape;314;p14"/>
          <p:cNvSpPr/>
          <p:nvPr/>
        </p:nvSpPr>
        <p:spPr>
          <a:xfrm>
            <a:off x="10922000" y="4127500"/>
            <a:ext cx="4318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Meilleur équilibre Precision/Recall pour le contexte médical</a:t>
            </a:r>
            <a:endParaRPr b="0" i="0" sz="1300" u="none" cap="none" strike="noStrike"/>
          </a:p>
        </p:txBody>
      </p:sp>
      <p:sp>
        <p:nvSpPr>
          <p:cNvPr id="315" name="Google Shape;315;p14"/>
          <p:cNvSpPr/>
          <p:nvPr/>
        </p:nvSpPr>
        <p:spPr>
          <a:xfrm>
            <a:off x="762000" y="51435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Matrice de Confusion — Logistic Regression</a:t>
            </a:r>
            <a:endParaRPr b="0" i="0" sz="2200" u="none" cap="none" strike="noStrike"/>
          </a:p>
        </p:txBody>
      </p:sp>
      <p:pic>
        <p:nvPicPr>
          <p:cNvPr id="316" name="Google Shape;3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588000"/>
            <a:ext cx="6350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4"/>
          <p:cNvSpPr/>
          <p:nvPr/>
        </p:nvSpPr>
        <p:spPr>
          <a:xfrm>
            <a:off x="7493000" y="5588000"/>
            <a:ext cx="8001000" cy="28575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7810500" y="5778500"/>
            <a:ext cx="7366000" cy="2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clés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28 vrais positifs sur 33 patients à risque détectés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5 faux négatifs (patients malades classés sains)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7 faux positifs (patients sains classés à risque)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20 vrais négatifs correctement identifiés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 = 84.85%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bonne capacité à détecter les cas positifs</a:t>
            </a:r>
            <a:endParaRPr b="0" i="0" sz="1600" u="none" cap="none" strike="noStrike"/>
          </a:p>
        </p:txBody>
      </p:sp>
      <p:sp>
        <p:nvSpPr>
          <p:cNvPr id="319" name="Google Shape;319;p14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ldmdkpifj6ckw/mnt/agents/output/heart_disease_ml/images/4_Stethoscope_Red_Heart_On_Black_Background.png" id="325" name="Google Shape;325;p15"/>
          <p:cNvPicPr preferRelativeResize="0"/>
          <p:nvPr/>
        </p:nvPicPr>
        <p:blipFill rotWithShape="1">
          <a:blip r:embed="rId3">
            <a:alphaModFix/>
          </a:blip>
          <a:srcRect b="10826" l="0" r="0" t="10826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1A1A1E">
                  <a:alpha val="80000"/>
                </a:srgbClr>
              </a:gs>
              <a:gs pos="60000">
                <a:srgbClr val="1A1A1E">
                  <a:alpha val="67058"/>
                </a:srgbClr>
              </a:gs>
              <a:gs pos="100000">
                <a:srgbClr val="1A1A1E">
                  <a:alpha val="40000"/>
                </a:srgbClr>
              </a:gs>
            </a:gsLst>
            <a:lin ang="0" scaled="0"/>
          </a:gra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9600" u="none" cap="none" strike="noStrike"/>
          </a:p>
        </p:txBody>
      </p:sp>
      <p:sp>
        <p:nvSpPr>
          <p:cNvPr id="328" name="Google Shape;328;p15"/>
          <p:cNvSpPr/>
          <p:nvPr/>
        </p:nvSpPr>
        <p:spPr>
          <a:xfrm>
            <a:off x="762000" y="3810000"/>
            <a:ext cx="1016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762000" y="4064000"/>
            <a:ext cx="889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Déploiement &amp; Perspectives</a:t>
            </a:r>
            <a:endParaRPr b="0" i="0" sz="4000" u="none" cap="none" strike="noStrike"/>
          </a:p>
        </p:txBody>
      </p:sp>
      <p:sp>
        <p:nvSpPr>
          <p:cNvPr id="330" name="Google Shape;330;p15"/>
          <p:cNvSpPr/>
          <p:nvPr/>
        </p:nvSpPr>
        <p:spPr>
          <a:xfrm>
            <a:off x="762000" y="4953000"/>
            <a:ext cx="889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web Flask et améliorations futures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12446000" y="76200"/>
            <a:ext cx="2794000" cy="304800"/>
          </a:xfrm>
          <a:prstGeom prst="roundRect">
            <a:avLst>
              <a:gd fmla="val 8000" name="adj"/>
            </a:avLst>
          </a:prstGeom>
          <a:solidFill>
            <a:srgbClr val="FFFFFF">
              <a:alpha val="13333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254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</a:t>
            </a:r>
            <a:endParaRPr b="0" i="0" sz="1200" u="none" cap="none" strike="noStrike"/>
          </a:p>
        </p:txBody>
      </p:sp>
      <p:sp>
        <p:nvSpPr>
          <p:cNvPr id="339" name="Google Shape;339;p16"/>
          <p:cNvSpPr/>
          <p:nvPr/>
        </p:nvSpPr>
        <p:spPr>
          <a:xfrm>
            <a:off x="3302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MÉTHODOLOGIE</a:t>
            </a:r>
            <a:endParaRPr b="0" i="0" sz="1200" u="none" cap="none" strike="noStrike"/>
          </a:p>
        </p:txBody>
      </p:sp>
      <p:sp>
        <p:nvSpPr>
          <p:cNvPr id="340" name="Google Shape;340;p16"/>
          <p:cNvSpPr/>
          <p:nvPr/>
        </p:nvSpPr>
        <p:spPr>
          <a:xfrm>
            <a:off x="6350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ANALYSE</a:t>
            </a:r>
            <a:endParaRPr b="0" i="0" sz="1200" u="none" cap="none" strike="noStrike"/>
          </a:p>
        </p:txBody>
      </p:sp>
      <p:sp>
        <p:nvSpPr>
          <p:cNvPr id="341" name="Google Shape;341;p16"/>
          <p:cNvSpPr/>
          <p:nvPr/>
        </p:nvSpPr>
        <p:spPr>
          <a:xfrm>
            <a:off x="9398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MODÉLISATION</a:t>
            </a:r>
            <a:endParaRPr b="0" i="0" sz="1200" u="none" cap="none" strike="noStrike"/>
          </a:p>
        </p:txBody>
      </p:sp>
      <p:sp>
        <p:nvSpPr>
          <p:cNvPr id="342" name="Google Shape;342;p16"/>
          <p:cNvSpPr/>
          <p:nvPr/>
        </p:nvSpPr>
        <p:spPr>
          <a:xfrm>
            <a:off x="12446000" y="76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DÉPLOIEMENT</a:t>
            </a:r>
            <a:endParaRPr b="0" i="0" sz="1200" u="none" cap="none" strike="noStrike"/>
          </a:p>
        </p:txBody>
      </p:sp>
      <p:sp>
        <p:nvSpPr>
          <p:cNvPr id="343" name="Google Shape;343;p1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Flask et Améliorations</a:t>
            </a:r>
            <a:endParaRPr b="0" i="0" sz="2800" u="none" cap="none" strike="noStrike"/>
          </a:p>
        </p:txBody>
      </p:sp>
      <p:sp>
        <p:nvSpPr>
          <p:cNvPr id="344" name="Google Shape;344;p16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762000" y="149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Déploiement de l'application</a:t>
            </a:r>
            <a:endParaRPr b="0" i="0" sz="2200" u="none" cap="none" strike="noStrike"/>
          </a:p>
        </p:txBody>
      </p:sp>
      <p:sp>
        <p:nvSpPr>
          <p:cNvPr id="346" name="Google Shape;346;p16"/>
          <p:cNvSpPr/>
          <p:nvPr/>
        </p:nvSpPr>
        <p:spPr>
          <a:xfrm>
            <a:off x="762000" y="2006600"/>
            <a:ext cx="3429000" cy="1397000"/>
          </a:xfrm>
          <a:prstGeom prst="roundRect">
            <a:avLst>
              <a:gd fmla="val 4000" name="adj"/>
            </a:avLst>
          </a:prstGeom>
          <a:solidFill>
            <a:srgbClr val="2B3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1016000" y="2184400"/>
            <a:ext cx="355600" cy="355600"/>
          </a:xfrm>
          <a:custGeom>
            <a:rect b="b" l="l" r="r" t="t"/>
            <a:pathLst>
              <a:path extrusionOk="0" h="355600" w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42796" y="205303"/>
                </a:moveTo>
                <a:cubicBezTo>
                  <a:pt x="150760" y="198289"/>
                  <a:pt x="149741" y="187801"/>
                  <a:pt x="140388" y="181828"/>
                </a:cubicBezTo>
                <a:cubicBezTo>
                  <a:pt x="131035" y="175855"/>
                  <a:pt x="117052" y="176619"/>
                  <a:pt x="109088" y="183634"/>
                </a:cubicBezTo>
                <a:lnTo>
                  <a:pt x="64638" y="222528"/>
                </a:lnTo>
                <a:cubicBezTo>
                  <a:pt x="57507" y="228779"/>
                  <a:pt x="57507" y="237946"/>
                  <a:pt x="64638" y="244197"/>
                </a:cubicBezTo>
                <a:lnTo>
                  <a:pt x="109088" y="283091"/>
                </a:lnTo>
                <a:cubicBezTo>
                  <a:pt x="117052" y="290106"/>
                  <a:pt x="131128" y="290870"/>
                  <a:pt x="140388" y="284897"/>
                </a:cubicBezTo>
                <a:cubicBezTo>
                  <a:pt x="149648" y="278924"/>
                  <a:pt x="150760" y="268367"/>
                  <a:pt x="142796" y="261422"/>
                </a:cubicBezTo>
                <a:lnTo>
                  <a:pt x="110755" y="233363"/>
                </a:lnTo>
                <a:lnTo>
                  <a:pt x="142796" y="205303"/>
                </a:lnTo>
                <a:close/>
                <a:moveTo>
                  <a:pt x="246512" y="183634"/>
                </a:moveTo>
                <a:cubicBezTo>
                  <a:pt x="238548" y="176619"/>
                  <a:pt x="224473" y="175855"/>
                  <a:pt x="215212" y="181828"/>
                </a:cubicBezTo>
                <a:cubicBezTo>
                  <a:pt x="205952" y="187801"/>
                  <a:pt x="204840" y="198358"/>
                  <a:pt x="212804" y="205303"/>
                </a:cubicBezTo>
                <a:lnTo>
                  <a:pt x="244845" y="233363"/>
                </a:lnTo>
                <a:lnTo>
                  <a:pt x="212804" y="261422"/>
                </a:lnTo>
                <a:cubicBezTo>
                  <a:pt x="204840" y="268436"/>
                  <a:pt x="205859" y="278924"/>
                  <a:pt x="215212" y="284897"/>
                </a:cubicBezTo>
                <a:cubicBezTo>
                  <a:pt x="224565" y="290870"/>
                  <a:pt x="238548" y="290106"/>
                  <a:pt x="246512" y="283091"/>
                </a:cubicBezTo>
                <a:lnTo>
                  <a:pt x="290962" y="244197"/>
                </a:lnTo>
                <a:cubicBezTo>
                  <a:pt x="298093" y="237946"/>
                  <a:pt x="298093" y="228779"/>
                  <a:pt x="290962" y="222528"/>
                </a:cubicBezTo>
                <a:lnTo>
                  <a:pt x="246512" y="1836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1498600" y="2159000"/>
            <a:ext cx="2476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model.pkl</a:t>
            </a:r>
            <a:endParaRPr b="0" i="0" sz="1600" u="none" cap="none" strike="noStrike"/>
          </a:p>
        </p:txBody>
      </p:sp>
      <p:sp>
        <p:nvSpPr>
          <p:cNvPr id="349" name="Google Shape;349;p16"/>
          <p:cNvSpPr/>
          <p:nvPr/>
        </p:nvSpPr>
        <p:spPr>
          <a:xfrm>
            <a:off x="1016000" y="2641600"/>
            <a:ext cx="2921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Modèle Logistic Regression sauvegardé</a:t>
            </a:r>
            <a:endParaRPr b="0" i="0" sz="1300" u="none" cap="none" strike="noStrike"/>
          </a:p>
        </p:txBody>
      </p:sp>
      <p:sp>
        <p:nvSpPr>
          <p:cNvPr id="350" name="Google Shape;350;p16"/>
          <p:cNvSpPr/>
          <p:nvPr/>
        </p:nvSpPr>
        <p:spPr>
          <a:xfrm>
            <a:off x="4445000" y="2006600"/>
            <a:ext cx="3429000" cy="1397000"/>
          </a:xfrm>
          <a:prstGeom prst="roundRect">
            <a:avLst>
              <a:gd fmla="val 4000" name="adj"/>
            </a:avLst>
          </a:prstGeom>
          <a:solidFill>
            <a:srgbClr val="3D4F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4699000" y="2184400"/>
            <a:ext cx="355600" cy="355600"/>
          </a:xfrm>
          <a:custGeom>
            <a:rect b="b" l="l" r="r" t="t"/>
            <a:pathLst>
              <a:path extrusionOk="0" h="355600" w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5181600" y="2159000"/>
            <a:ext cx="2476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scaler.pkl</a:t>
            </a:r>
            <a:endParaRPr b="0" i="0" sz="1600" u="none" cap="none" strike="noStrike"/>
          </a:p>
        </p:txBody>
      </p:sp>
      <p:sp>
        <p:nvSpPr>
          <p:cNvPr id="353" name="Google Shape;353;p16"/>
          <p:cNvSpPr/>
          <p:nvPr/>
        </p:nvSpPr>
        <p:spPr>
          <a:xfrm>
            <a:off x="4699000" y="2641600"/>
            <a:ext cx="2921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StandardScaler pour la normalisation</a:t>
            </a:r>
            <a:endParaRPr b="0" i="0" sz="1300" u="none" cap="none" strike="noStrike"/>
          </a:p>
        </p:txBody>
      </p:sp>
      <p:sp>
        <p:nvSpPr>
          <p:cNvPr id="354" name="Google Shape;354;p16"/>
          <p:cNvSpPr/>
          <p:nvPr/>
        </p:nvSpPr>
        <p:spPr>
          <a:xfrm>
            <a:off x="762000" y="3530600"/>
            <a:ext cx="7112000" cy="36830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1079500" y="37084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3A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Flask — Fonctionnalités</a:t>
            </a:r>
            <a:endParaRPr b="0" i="0" sz="1800" u="none" cap="none" strike="noStrike"/>
          </a:p>
        </p:txBody>
      </p:sp>
      <p:sp>
        <p:nvSpPr>
          <p:cNvPr id="356" name="Google Shape;356;p16"/>
          <p:cNvSpPr/>
          <p:nvPr/>
        </p:nvSpPr>
        <p:spPr>
          <a:xfrm>
            <a:off x="1079500" y="4165600"/>
            <a:ext cx="6477000" cy="2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Formulaire interactif pour saisir les données du patient (13 variables médicales)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Normalisation automatique des données avec le scaler sauvegardé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Prédiction en temps réel avec le modèle sauvegardé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Affichage du résultat (risque / pas de risque) avec la probabilité associée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-US" sz="16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Interface web simple et accessible pour un usage clinique potentiel</a:t>
            </a:r>
            <a:endParaRPr b="0" i="0" sz="1600" u="none" cap="none" strike="noStrike"/>
          </a:p>
        </p:txBody>
      </p:sp>
      <p:sp>
        <p:nvSpPr>
          <p:cNvPr id="357" name="Google Shape;357;p16"/>
          <p:cNvSpPr/>
          <p:nvPr/>
        </p:nvSpPr>
        <p:spPr>
          <a:xfrm>
            <a:off x="8382000" y="149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Améliorations possibles</a:t>
            </a:r>
            <a:endParaRPr b="0" i="0" sz="2200" u="none" cap="none" strike="noStrike"/>
          </a:p>
        </p:txBody>
      </p:sp>
      <p:sp>
        <p:nvSpPr>
          <p:cNvPr id="358" name="Google Shape;358;p16"/>
          <p:cNvSpPr/>
          <p:nvPr/>
        </p:nvSpPr>
        <p:spPr>
          <a:xfrm>
            <a:off x="8382000" y="2006600"/>
            <a:ext cx="7112000" cy="952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8636000" y="2222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9050" y="38100"/>
                </a:moveTo>
                <a:cubicBezTo>
                  <a:pt x="8513" y="38100"/>
                  <a:pt x="0" y="46613"/>
                  <a:pt x="0" y="57150"/>
                </a:cubicBezTo>
                <a:cubicBezTo>
                  <a:pt x="0" y="67687"/>
                  <a:pt x="8513" y="76200"/>
                  <a:pt x="19050" y="76200"/>
                </a:cubicBezTo>
                <a:lnTo>
                  <a:pt x="70664" y="76200"/>
                </a:lnTo>
                <a:cubicBezTo>
                  <a:pt x="77986" y="93047"/>
                  <a:pt x="94774" y="104775"/>
                  <a:pt x="114300" y="104775"/>
                </a:cubicBezTo>
                <a:cubicBezTo>
                  <a:pt x="133826" y="104775"/>
                  <a:pt x="150614" y="93047"/>
                  <a:pt x="157936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57936" y="38100"/>
                </a:lnTo>
                <a:cubicBezTo>
                  <a:pt x="150614" y="21253"/>
                  <a:pt x="133826" y="9525"/>
                  <a:pt x="114300" y="9525"/>
                </a:cubicBezTo>
                <a:cubicBezTo>
                  <a:pt x="94774" y="9525"/>
                  <a:pt x="77986" y="21253"/>
                  <a:pt x="70664" y="38100"/>
                </a:cubicBezTo>
                <a:lnTo>
                  <a:pt x="19050" y="38100"/>
                </a:lnTo>
                <a:close/>
                <a:moveTo>
                  <a:pt x="19050" y="133350"/>
                </a:move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65914" y="171450"/>
                </a:lnTo>
                <a:cubicBezTo>
                  <a:pt x="173236" y="188297"/>
                  <a:pt x="190024" y="200025"/>
                  <a:pt x="209550" y="200025"/>
                </a:cubicBezTo>
                <a:cubicBezTo>
                  <a:pt x="229076" y="200025"/>
                  <a:pt x="245864" y="188297"/>
                  <a:pt x="253186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253186" y="133350"/>
                </a:lnTo>
                <a:cubicBezTo>
                  <a:pt x="245864" y="116503"/>
                  <a:pt x="229076" y="104775"/>
                  <a:pt x="209550" y="104775"/>
                </a:cubicBezTo>
                <a:cubicBezTo>
                  <a:pt x="190024" y="104775"/>
                  <a:pt x="173236" y="116503"/>
                  <a:pt x="165914" y="133350"/>
                </a:cubicBezTo>
                <a:lnTo>
                  <a:pt x="19050" y="133350"/>
                </a:lnTo>
                <a:close/>
                <a:moveTo>
                  <a:pt x="19050" y="228600"/>
                </a:moveTo>
                <a:cubicBezTo>
                  <a:pt x="8513" y="228600"/>
                  <a:pt x="0" y="237113"/>
                  <a:pt x="0" y="247650"/>
                </a:cubicBezTo>
                <a:cubicBezTo>
                  <a:pt x="0" y="258187"/>
                  <a:pt x="8513" y="266700"/>
                  <a:pt x="19050" y="266700"/>
                </a:cubicBezTo>
                <a:lnTo>
                  <a:pt x="51614" y="266700"/>
                </a:lnTo>
                <a:cubicBezTo>
                  <a:pt x="58936" y="283547"/>
                  <a:pt x="75724" y="295275"/>
                  <a:pt x="95250" y="295275"/>
                </a:cubicBezTo>
                <a:cubicBezTo>
                  <a:pt x="114776" y="295275"/>
                  <a:pt x="131564" y="283547"/>
                  <a:pt x="138886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38886" y="228600"/>
                </a:lnTo>
                <a:cubicBezTo>
                  <a:pt x="131564" y="211753"/>
                  <a:pt x="114776" y="200025"/>
                  <a:pt x="95250" y="200025"/>
                </a:cubicBezTo>
                <a:cubicBezTo>
                  <a:pt x="75724" y="200025"/>
                  <a:pt x="58936" y="211753"/>
                  <a:pt x="51614" y="228600"/>
                </a:cubicBezTo>
                <a:lnTo>
                  <a:pt x="19050" y="228600"/>
                </a:ln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9080500" y="2133600"/>
            <a:ext cx="6159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des hyperparamètres</a:t>
            </a:r>
            <a:r>
              <a:rPr b="0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GridSearchCV ou RandomizedSearchCV</a:t>
            </a:r>
            <a:endParaRPr b="0" i="0" sz="1500" u="none" cap="none" strike="noStrike"/>
          </a:p>
        </p:txBody>
      </p:sp>
      <p:sp>
        <p:nvSpPr>
          <p:cNvPr id="361" name="Google Shape;361;p16"/>
          <p:cNvSpPr/>
          <p:nvPr/>
        </p:nvSpPr>
        <p:spPr>
          <a:xfrm>
            <a:off x="8382000" y="3149600"/>
            <a:ext cx="7112000" cy="952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8636000" y="3365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9080500" y="3276600"/>
            <a:ext cx="6159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croisée</a:t>
            </a:r>
            <a:r>
              <a:rPr b="0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k-fold cross-validation pour une évaluation robuste</a:t>
            </a:r>
            <a:endParaRPr b="0" i="0" sz="1500" u="none" cap="none" strike="noStrike"/>
          </a:p>
        </p:txBody>
      </p:sp>
      <p:sp>
        <p:nvSpPr>
          <p:cNvPr id="364" name="Google Shape;364;p16"/>
          <p:cNvSpPr/>
          <p:nvPr/>
        </p:nvSpPr>
        <p:spPr>
          <a:xfrm>
            <a:off x="8382000" y="4292600"/>
            <a:ext cx="7112000" cy="952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8636000" y="4508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39383" y="-16073"/>
                </a:moveTo>
                <a:lnTo>
                  <a:pt x="147214" y="5834"/>
                </a:lnTo>
                <a:lnTo>
                  <a:pt x="166688" y="14645"/>
                </a:lnTo>
                <a:cubicBezTo>
                  <a:pt x="168275" y="15359"/>
                  <a:pt x="169333" y="17145"/>
                  <a:pt x="169333" y="19050"/>
                </a:cubicBezTo>
                <a:cubicBezTo>
                  <a:pt x="169333" y="20955"/>
                  <a:pt x="168275" y="22741"/>
                  <a:pt x="166688" y="23455"/>
                </a:cubicBezTo>
                <a:lnTo>
                  <a:pt x="147214" y="32266"/>
                </a:lnTo>
                <a:lnTo>
                  <a:pt x="139383" y="54173"/>
                </a:lnTo>
                <a:cubicBezTo>
                  <a:pt x="138748" y="55959"/>
                  <a:pt x="137160" y="57150"/>
                  <a:pt x="135467" y="57150"/>
                </a:cubicBezTo>
                <a:cubicBezTo>
                  <a:pt x="133773" y="57150"/>
                  <a:pt x="132186" y="55959"/>
                  <a:pt x="131551" y="54173"/>
                </a:cubicBezTo>
                <a:lnTo>
                  <a:pt x="123719" y="32266"/>
                </a:lnTo>
                <a:lnTo>
                  <a:pt x="104246" y="23455"/>
                </a:lnTo>
                <a:cubicBezTo>
                  <a:pt x="102658" y="22741"/>
                  <a:pt x="101600" y="20955"/>
                  <a:pt x="101600" y="19050"/>
                </a:cubicBezTo>
                <a:cubicBezTo>
                  <a:pt x="101600" y="17145"/>
                  <a:pt x="102658" y="15359"/>
                  <a:pt x="104246" y="14645"/>
                </a:cubicBezTo>
                <a:lnTo>
                  <a:pt x="123719" y="5834"/>
                </a:lnTo>
                <a:lnTo>
                  <a:pt x="131551" y="-16073"/>
                </a:lnTo>
                <a:cubicBezTo>
                  <a:pt x="132186" y="-17859"/>
                  <a:pt x="133773" y="-19050"/>
                  <a:pt x="135467" y="-19050"/>
                </a:cubicBezTo>
                <a:cubicBezTo>
                  <a:pt x="137160" y="-19050"/>
                  <a:pt x="138748" y="-17859"/>
                  <a:pt x="139383" y="-16073"/>
                </a:cubicBezTo>
                <a:close/>
                <a:moveTo>
                  <a:pt x="58579" y="24825"/>
                </a:moveTo>
                <a:lnTo>
                  <a:pt x="69956" y="54650"/>
                </a:lnTo>
                <a:lnTo>
                  <a:pt x="96467" y="67449"/>
                </a:lnTo>
                <a:cubicBezTo>
                  <a:pt x="99589" y="68937"/>
                  <a:pt x="101600" y="72390"/>
                  <a:pt x="101600" y="76200"/>
                </a:cubicBezTo>
                <a:cubicBezTo>
                  <a:pt x="101600" y="80010"/>
                  <a:pt x="99589" y="83463"/>
                  <a:pt x="96467" y="84951"/>
                </a:cubicBezTo>
                <a:lnTo>
                  <a:pt x="69956" y="97750"/>
                </a:lnTo>
                <a:lnTo>
                  <a:pt x="58579" y="127575"/>
                </a:lnTo>
                <a:cubicBezTo>
                  <a:pt x="57256" y="131088"/>
                  <a:pt x="54187" y="133350"/>
                  <a:pt x="50800" y="133350"/>
                </a:cubicBezTo>
                <a:cubicBezTo>
                  <a:pt x="47413" y="133350"/>
                  <a:pt x="44344" y="131088"/>
                  <a:pt x="43021" y="127575"/>
                </a:cubicBezTo>
                <a:lnTo>
                  <a:pt x="31644" y="97750"/>
                </a:lnTo>
                <a:lnTo>
                  <a:pt x="5133" y="84951"/>
                </a:lnTo>
                <a:cubicBezTo>
                  <a:pt x="2011" y="83463"/>
                  <a:pt x="0" y="80010"/>
                  <a:pt x="0" y="76200"/>
                </a:cubicBezTo>
                <a:cubicBezTo>
                  <a:pt x="0" y="72390"/>
                  <a:pt x="2011" y="68937"/>
                  <a:pt x="5133" y="67449"/>
                </a:cubicBezTo>
                <a:lnTo>
                  <a:pt x="31644" y="54650"/>
                </a:lnTo>
                <a:lnTo>
                  <a:pt x="43021" y="24825"/>
                </a:lnTo>
                <a:cubicBezTo>
                  <a:pt x="44344" y="21312"/>
                  <a:pt x="47413" y="19050"/>
                  <a:pt x="50800" y="19050"/>
                </a:cubicBezTo>
                <a:cubicBezTo>
                  <a:pt x="54187" y="19050"/>
                  <a:pt x="57256" y="21312"/>
                  <a:pt x="58579" y="24825"/>
                </a:cubicBezTo>
                <a:close/>
                <a:moveTo>
                  <a:pt x="245533" y="180975"/>
                </a:moveTo>
                <a:cubicBezTo>
                  <a:pt x="248920" y="180975"/>
                  <a:pt x="251989" y="183237"/>
                  <a:pt x="253312" y="186750"/>
                </a:cubicBezTo>
                <a:lnTo>
                  <a:pt x="264689" y="216575"/>
                </a:lnTo>
                <a:lnTo>
                  <a:pt x="291200" y="229374"/>
                </a:lnTo>
                <a:cubicBezTo>
                  <a:pt x="294322" y="230862"/>
                  <a:pt x="296333" y="234315"/>
                  <a:pt x="296333" y="238125"/>
                </a:cubicBezTo>
                <a:cubicBezTo>
                  <a:pt x="296333" y="241935"/>
                  <a:pt x="294323" y="245388"/>
                  <a:pt x="291200" y="246876"/>
                </a:cubicBezTo>
                <a:lnTo>
                  <a:pt x="264689" y="259675"/>
                </a:lnTo>
                <a:lnTo>
                  <a:pt x="253312" y="289500"/>
                </a:lnTo>
                <a:cubicBezTo>
                  <a:pt x="251989" y="293013"/>
                  <a:pt x="248920" y="295275"/>
                  <a:pt x="245533" y="295275"/>
                </a:cubicBezTo>
                <a:cubicBezTo>
                  <a:pt x="242147" y="295275"/>
                  <a:pt x="239077" y="293013"/>
                  <a:pt x="237755" y="289500"/>
                </a:cubicBezTo>
                <a:lnTo>
                  <a:pt x="226377" y="259675"/>
                </a:lnTo>
                <a:lnTo>
                  <a:pt x="199866" y="246876"/>
                </a:lnTo>
                <a:cubicBezTo>
                  <a:pt x="196744" y="245388"/>
                  <a:pt x="194733" y="241935"/>
                  <a:pt x="194733" y="238125"/>
                </a:cubicBezTo>
                <a:cubicBezTo>
                  <a:pt x="194733" y="234315"/>
                  <a:pt x="196744" y="230862"/>
                  <a:pt x="199866" y="229374"/>
                </a:cubicBezTo>
                <a:lnTo>
                  <a:pt x="226377" y="216575"/>
                </a:lnTo>
                <a:lnTo>
                  <a:pt x="237755" y="186750"/>
                </a:lnTo>
                <a:cubicBezTo>
                  <a:pt x="239077" y="183237"/>
                  <a:pt x="242147" y="180975"/>
                  <a:pt x="245533" y="180975"/>
                </a:cubicBezTo>
                <a:close/>
                <a:moveTo>
                  <a:pt x="243417" y="0"/>
                </a:moveTo>
                <a:cubicBezTo>
                  <a:pt x="249237" y="0"/>
                  <a:pt x="254847" y="2619"/>
                  <a:pt x="259027" y="7263"/>
                </a:cubicBezTo>
                <a:lnTo>
                  <a:pt x="281411" y="32445"/>
                </a:lnTo>
                <a:cubicBezTo>
                  <a:pt x="285538" y="37148"/>
                  <a:pt x="287867" y="43458"/>
                  <a:pt x="287867" y="50006"/>
                </a:cubicBezTo>
                <a:cubicBezTo>
                  <a:pt x="287867" y="56555"/>
                  <a:pt x="285538" y="62865"/>
                  <a:pt x="281411" y="67568"/>
                </a:cubicBezTo>
                <a:lnTo>
                  <a:pt x="234738" y="120075"/>
                </a:lnTo>
                <a:lnTo>
                  <a:pt x="181134" y="59769"/>
                </a:lnTo>
                <a:lnTo>
                  <a:pt x="227806" y="7263"/>
                </a:lnTo>
                <a:cubicBezTo>
                  <a:pt x="231987" y="2619"/>
                  <a:pt x="237596" y="0"/>
                  <a:pt x="243417" y="0"/>
                </a:cubicBezTo>
                <a:close/>
                <a:moveTo>
                  <a:pt x="23389" y="237232"/>
                </a:moveTo>
                <a:lnTo>
                  <a:pt x="163195" y="79950"/>
                </a:lnTo>
                <a:lnTo>
                  <a:pt x="216800" y="140256"/>
                </a:lnTo>
                <a:lnTo>
                  <a:pt x="76994" y="297537"/>
                </a:lnTo>
                <a:cubicBezTo>
                  <a:pt x="72813" y="302181"/>
                  <a:pt x="67204" y="304800"/>
                  <a:pt x="61383" y="304800"/>
                </a:cubicBezTo>
                <a:cubicBezTo>
                  <a:pt x="55562" y="304800"/>
                  <a:pt x="49953" y="302181"/>
                  <a:pt x="45773" y="297537"/>
                </a:cubicBezTo>
                <a:lnTo>
                  <a:pt x="23389" y="272355"/>
                </a:lnTo>
                <a:cubicBezTo>
                  <a:pt x="19262" y="267653"/>
                  <a:pt x="16933" y="261342"/>
                  <a:pt x="16933" y="254794"/>
                </a:cubicBezTo>
                <a:cubicBezTo>
                  <a:pt x="16933" y="248245"/>
                  <a:pt x="19262" y="241935"/>
                  <a:pt x="23389" y="237232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9080500" y="4419600"/>
            <a:ext cx="6159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engineering</a:t>
            </a:r>
            <a:r>
              <a:rPr b="0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Création de nouvelles variables combinées</a:t>
            </a:r>
            <a:endParaRPr b="0" i="0" sz="1500" u="none" cap="none" strike="noStrike"/>
          </a:p>
        </p:txBody>
      </p:sp>
      <p:sp>
        <p:nvSpPr>
          <p:cNvPr id="367" name="Google Shape;367;p16"/>
          <p:cNvSpPr/>
          <p:nvPr/>
        </p:nvSpPr>
        <p:spPr>
          <a:xfrm>
            <a:off x="8382000" y="5435600"/>
            <a:ext cx="7112000" cy="952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>
            <a:off x="8636000" y="5651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/>
          <p:nvPr/>
        </p:nvSpPr>
        <p:spPr>
          <a:xfrm>
            <a:off x="9080500" y="5562600"/>
            <a:ext cx="6159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Autres modèles</a:t>
            </a:r>
            <a:r>
              <a:rPr b="0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XGBoost, LightGBM, réseaux de neurones</a:t>
            </a:r>
            <a:endParaRPr b="0" i="0" sz="1500" u="none" cap="none" strike="noStrike"/>
          </a:p>
        </p:txBody>
      </p:sp>
      <p:sp>
        <p:nvSpPr>
          <p:cNvPr id="370" name="Google Shape;370;p16"/>
          <p:cNvSpPr/>
          <p:nvPr/>
        </p:nvSpPr>
        <p:spPr>
          <a:xfrm>
            <a:off x="8382000" y="6578600"/>
            <a:ext cx="7112000" cy="952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8636000" y="6794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19050"/>
                </a:moveTo>
                <a:cubicBezTo>
                  <a:pt x="109643" y="19050"/>
                  <a:pt x="75406" y="40957"/>
                  <a:pt x="50483" y="67032"/>
                </a:cubicBezTo>
                <a:cubicBezTo>
                  <a:pt x="25718" y="92928"/>
                  <a:pt x="9155" y="123825"/>
                  <a:pt x="1270" y="145078"/>
                </a:cubicBezTo>
                <a:cubicBezTo>
                  <a:pt x="-476" y="149781"/>
                  <a:pt x="-476" y="155019"/>
                  <a:pt x="1270" y="159722"/>
                </a:cubicBezTo>
                <a:cubicBezTo>
                  <a:pt x="9155" y="180975"/>
                  <a:pt x="25718" y="211931"/>
                  <a:pt x="50483" y="237768"/>
                </a:cubicBezTo>
                <a:cubicBezTo>
                  <a:pt x="75406" y="263783"/>
                  <a:pt x="109643" y="285750"/>
                  <a:pt x="152400" y="285750"/>
                </a:cubicBezTo>
                <a:cubicBezTo>
                  <a:pt x="195157" y="285750"/>
                  <a:pt x="229394" y="263843"/>
                  <a:pt x="254318" y="237768"/>
                </a:cubicBezTo>
                <a:cubicBezTo>
                  <a:pt x="279083" y="211872"/>
                  <a:pt x="295645" y="180975"/>
                  <a:pt x="303530" y="159722"/>
                </a:cubicBezTo>
                <a:cubicBezTo>
                  <a:pt x="305276" y="155019"/>
                  <a:pt x="305276" y="149781"/>
                  <a:pt x="303530" y="145078"/>
                </a:cubicBezTo>
                <a:cubicBezTo>
                  <a:pt x="295645" y="123825"/>
                  <a:pt x="279083" y="92869"/>
                  <a:pt x="254318" y="67032"/>
                </a:cubicBezTo>
                <a:cubicBezTo>
                  <a:pt x="229394" y="41017"/>
                  <a:pt x="195157" y="19050"/>
                  <a:pt x="152400" y="19050"/>
                </a:cubicBezTo>
                <a:close/>
                <a:moveTo>
                  <a:pt x="76200" y="152400"/>
                </a:moveTo>
                <a:cubicBezTo>
                  <a:pt x="76200" y="105087"/>
                  <a:pt x="110344" y="66675"/>
                  <a:pt x="152400" y="66675"/>
                </a:cubicBezTo>
                <a:cubicBezTo>
                  <a:pt x="194456" y="66675"/>
                  <a:pt x="228600" y="105087"/>
                  <a:pt x="228600" y="152400"/>
                </a:cubicBezTo>
                <a:cubicBezTo>
                  <a:pt x="228600" y="199713"/>
                  <a:pt x="194456" y="238125"/>
                  <a:pt x="152400" y="238125"/>
                </a:cubicBezTo>
                <a:cubicBezTo>
                  <a:pt x="110344" y="238125"/>
                  <a:pt x="76200" y="199713"/>
                  <a:pt x="76200" y="152400"/>
                </a:cubicBezTo>
                <a:close/>
                <a:moveTo>
                  <a:pt x="152400" y="114300"/>
                </a:moveTo>
                <a:cubicBezTo>
                  <a:pt x="152400" y="135315"/>
                  <a:pt x="137213" y="152400"/>
                  <a:pt x="118533" y="152400"/>
                </a:cubicBezTo>
                <a:cubicBezTo>
                  <a:pt x="112448" y="152400"/>
                  <a:pt x="106733" y="150614"/>
                  <a:pt x="101759" y="147399"/>
                </a:cubicBezTo>
                <a:cubicBezTo>
                  <a:pt x="101230" y="153888"/>
                  <a:pt x="101706" y="160556"/>
                  <a:pt x="103293" y="167164"/>
                </a:cubicBezTo>
                <a:cubicBezTo>
                  <a:pt x="110543" y="197644"/>
                  <a:pt x="138430" y="215741"/>
                  <a:pt x="165523" y="207585"/>
                </a:cubicBezTo>
                <a:cubicBezTo>
                  <a:pt x="192617" y="199430"/>
                  <a:pt x="208703" y="168057"/>
                  <a:pt x="201454" y="137577"/>
                </a:cubicBezTo>
                <a:cubicBezTo>
                  <a:pt x="194998" y="110371"/>
                  <a:pt x="172085" y="93047"/>
                  <a:pt x="147955" y="95429"/>
                </a:cubicBezTo>
                <a:cubicBezTo>
                  <a:pt x="150760" y="100965"/>
                  <a:pt x="152400" y="107394"/>
                  <a:pt x="152400" y="114300"/>
                </a:cubicBezTo>
                <a:close/>
              </a:path>
            </a:pathLst>
          </a:cu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9080500" y="6705600"/>
            <a:ext cx="6159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Interprétabilité</a:t>
            </a:r>
            <a:r>
              <a:rPr b="0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SHAP values pour expliquer les prédictions</a:t>
            </a:r>
            <a:endParaRPr b="0" i="0" sz="1500" u="none" cap="none" strike="noStrike"/>
          </a:p>
        </p:txBody>
      </p:sp>
      <p:sp>
        <p:nvSpPr>
          <p:cNvPr id="373" name="Google Shape;373;p16"/>
          <p:cNvSpPr/>
          <p:nvPr/>
        </p:nvSpPr>
        <p:spPr>
          <a:xfrm>
            <a:off x="762000" y="7747000"/>
            <a:ext cx="14732000" cy="635000"/>
          </a:xfrm>
          <a:prstGeom prst="roundRect">
            <a:avLst>
              <a:gd fmla="val 3000" name="adj"/>
            </a:avLst>
          </a:prstGeom>
          <a:solidFill>
            <a:srgbClr val="E8E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1079500" y="7810500"/>
            <a:ext cx="14097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75B3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Limites actuelles</a:t>
            </a:r>
            <a:r>
              <a:rPr b="0" i="0" lang="en-US" sz="1500" u="none" cap="none" strike="noStrike">
                <a:solidFill>
                  <a:srgbClr val="1E1E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Dataset réduit après nettoyage (302 patients) — Hyperparamètres non optimisés — Pas de validation croisée implémentée</a:t>
            </a:r>
            <a:endParaRPr b="0" i="0" sz="1500" u="none" cap="none" strike="noStrike"/>
          </a:p>
        </p:txBody>
      </p:sp>
      <p:sp>
        <p:nvSpPr>
          <p:cNvPr id="375" name="Google Shape;375;p16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3A4E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"/>
          <p:cNvSpPr/>
          <p:nvPr/>
        </p:nvSpPr>
        <p:spPr>
          <a:xfrm>
            <a:off x="6858000" y="2816306"/>
            <a:ext cx="2540000" cy="381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2413000" y="4191000"/>
            <a:ext cx="1143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MERCI POUR VOTRE ATTENTION</a:t>
            </a:r>
            <a:endParaRPr b="0" i="0" sz="4800" u="none" cap="none" strike="noStrike"/>
          </a:p>
        </p:txBody>
      </p:sp>
      <p:sp>
        <p:nvSpPr>
          <p:cNvPr id="383" name="Google Shape;383;p17"/>
          <p:cNvSpPr/>
          <p:nvPr/>
        </p:nvSpPr>
        <p:spPr>
          <a:xfrm>
            <a:off x="6858000" y="6541040"/>
            <a:ext cx="25400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